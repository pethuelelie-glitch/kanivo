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8f32ba8-102f-0b03-d397-921c3f1a17ec}">
          <p14:sldIdLst>
            <p14:sldId id="256"/>
            <p14:sldId id="257"/>
          </p14:sldIdLst>
        </p14:section>
        <p14:section name="Problème et données" id="{6c51665e-c088-b1a4-1961-db74770cc3c7}">
          <p14:sldIdLst>
            <p14:sldId id="258"/>
            <p14:sldId id="259"/>
            <p14:sldId id="260"/>
          </p14:sldIdLst>
        </p14:section>
        <p14:section name="Analyse" id="{857a1d31-20f0-33f3-a4ea-250e04a04af6}">
          <p14:sldIdLst>
            <p14:sldId id="261"/>
            <p14:sldId id="262"/>
            <p14:sldId id="263"/>
          </p14:sldIdLst>
        </p14:section>
        <p14:section name="Solution" id="{953be3ca-08af-3c1a-a15f-17866224ad64}">
          <p14:sldIdLst>
            <p14:sldId id="264"/>
            <p14:sldId id="265"/>
            <p14:sldId id="266"/>
            <p14:sldId id="267"/>
            <p14:sldId id="268"/>
          </p14:sldIdLst>
        </p14:section>
        <p14:section name="Déploiement" id="{febcd02e-cae6-bdc9-bb11-da7254a81a52}">
          <p14:sldIdLst>
            <p14:sldId id="269"/>
            <p14:sldId id="270"/>
            <p14:sldId id="271"/>
            <p14:sldId id="272"/>
          </p14:sldIdLst>
        </p14:section>
        <p14:section name="Conclusion" id="{08022d86-40ad-14db-73d0-55e02c4d4f12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9F1F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9F1F2"/>
                </a:solidFill>
                <a:latin typeface="+mn-lt"/>
              </a:rPr>
              <a:t>Morts par épisode majeur de pluies à Abidjan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Morts</c:v>
                </c:pt>
              </c:strCache>
            </c:strRef>
          </c:tx>
          <c:spPr>
            <a:solidFill>
              <a:srgbClr val="93AB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9F1F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3AB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AB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AB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AB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8A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1996</c:v>
                  </c:pt>
                  <c:pt idx="1">
                    <c:v>2018</c:v>
                  </c:pt>
                  <c:pt idx="2">
                    <c:v>2024</c:v>
                  </c:pt>
                  <c:pt idx="3">
                    <c:v>2025*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18</c:v>
                </c:pt>
                <c:pt idx="2">
                  <c:v>24</c:v>
                </c:pt>
                <c:pt idx="3">
                  <c:v>6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E9F1F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BB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BB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9F1F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9F1F2"/>
                </a:solidFill>
                <a:latin typeface="+mn-lt"/>
              </a:rPr>
              <a:t>Part exposée aux inondations et glissements de terrain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en zone à risque</c:v>
                </c:pt>
              </c:strCache>
            </c:strRef>
          </c:tx>
          <c:spPr>
            <a:solidFill>
              <a:srgbClr val="3AD6C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9F1F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Hôpitaux</c:v>
                  </c:pt>
                  <c:pt idx="1">
                    <c:v>Routes principales</c:v>
                  </c:pt>
                  <c:pt idx="2">
                    <c:v>Écoles</c:v>
                  </c:pt>
                  <c:pt idx="3">
                    <c:v>Surface du district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23</c:v>
                </c:pt>
                <c:pt idx="3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E9F1F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BB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BB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Sans Kanivo</c:v>
                </c:pt>
              </c:strCache>
            </c:strRef>
          </c:tx>
          <c:spPr>
            <a:solidFill>
              <a:srgbClr val="FF8A1F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9F1F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Habitants exposés</c:v>
                  </c:pt>
                  <c:pt idx="1">
                    <c:v>Mis à l'abri à temps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407474</c:v>
                </c:pt>
                <c:pt idx="1">
                  <c:v>69271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Avec Kanivo</c:v>
                </c:pt>
              </c:strCache>
            </c:strRef>
          </c:tx>
          <c:spPr>
            <a:solidFill>
              <a:srgbClr val="3AD6C8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9F1F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Habitants exposés</c:v>
                  </c:pt>
                  <c:pt idx="1">
                    <c:v>Mis à l'abri à temps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277614</c:v>
                </c:pt>
                <c:pt idx="1">
                  <c:v>176978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1" i="0" strike="noStrike" sz="1200" u="none">
                  <a:solidFill>
                    <a:srgbClr val="E9F1F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BB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BB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9F1F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le chiffre de juin 2026 : 59 morts en une nuit. Le message : ce n'est pas une fatalité climatique, c'est un problème de coordination que le numérique peut traiter.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pyramidale : problème, diagnostic, proposition, puis la décision demandée.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KANIVO_TIT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KANIVO_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NIVO_TIT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93268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NIVO_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NIVO_CONTENU">
    <p:bg>
      <p:bgPr>
        <a:solidFill>
          <a:srgbClr val="04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Kanivo · Inondations à Abidjan · Octobre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ethuelelie-glitch.github.io/kanivo/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NOTE STRATÉGIQUE · OCTOBRE 2026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9326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Abidjan, la pluie </a:t>
            </a:r>
            <a:pPr algn="l" indent="0" marL="0">
              <a:buNone/>
            </a:pPr>
            <a:r>
              <a:rPr lang="en-US" sz="5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tue pas</a:t>
            </a:r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seule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Kanivo : signaler les caniveaux bouchés, prioriser le curage, prévenir les quartiers exposés. Une réponse numérique aux inondations meurtrières du District d'Abidjan.</a:t>
            </a:r>
            <a:endParaRPr lang="en-US" sz="1800" dirty="0"/>
          </a:p>
        </p:txBody>
      </p:sp>
      <p:sp>
        <p:nvSpPr>
          <p:cNvPr id="5" name="carte-1"/>
          <p:cNvSpPr/>
          <p:nvPr/>
        </p:nvSpPr>
        <p:spPr>
          <a:xfrm>
            <a:off x="8869680" y="507492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04111A">
              <a:alpha val="80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6" name="texte-2"/>
          <p:cNvSpPr txBox="1"/>
          <p:nvPr/>
        </p:nvSpPr>
        <p:spPr>
          <a:xfrm>
            <a:off x="909828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 morts</a:t>
            </a:r>
            <a:endParaRPr lang="en-US" sz="2800" dirty="0"/>
          </a:p>
        </p:txBody>
      </p:sp>
      <p:sp>
        <p:nvSpPr>
          <p:cNvPr id="7" name="texte-3"/>
          <p:cNvSpPr txBox="1"/>
          <p:nvPr/>
        </p:nvSpPr>
        <p:spPr>
          <a:xfrm>
            <a:off x="9098280" y="5669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après les pluies du 28-29 juin 2026 (Gouvernement)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SYNTHÈSE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problème de coordination, pas seulement de pluie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Gouvernement (juil. 2026), GFDRR City Scan, Banque mondiale P168308, Ministère de la Salubrité (mars 2026).</a:t>
            </a:r>
            <a:endParaRPr lang="en-US" sz="1000" dirty="0"/>
          </a:p>
        </p:txBody>
      </p:sp>
      <p:sp>
        <p:nvSpPr>
          <p:cNvPr id="5" name="carte-4"/>
          <p:cNvSpPr/>
          <p:nvPr/>
        </p:nvSpPr>
        <p:spPr>
          <a:xfrm>
            <a:off x="54864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pastille-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texte-6"/>
          <p:cNvSpPr txBox="1"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e-7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2200" dirty="0"/>
          </a:p>
        </p:txBody>
      </p:sp>
      <p:sp>
        <p:nvSpPr>
          <p:cNvPr id="9" name="texte-8"/>
          <p:cNvSpPr txBox="1"/>
          <p:nvPr/>
        </p:nvSpPr>
        <p:spPr>
          <a:xfrm>
            <a:off x="86868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Chaque saison des pluies tue à Abidjan : 18 morts en 2018, 24 en 2024, 59 en 2026. Plus d'un quart du district est exposé aux inondations et aux glissements de terrain.</a:t>
            </a:r>
            <a:endParaRPr lang="en-US" sz="1400" dirty="0"/>
          </a:p>
        </p:txBody>
      </p:sp>
      <p:sp>
        <p:nvSpPr>
          <p:cNvPr id="10" name="carte-9"/>
          <p:cNvSpPr/>
          <p:nvPr/>
        </p:nvSpPr>
        <p:spPr>
          <a:xfrm>
            <a:off x="429768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1" name="pastille-10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e-11"/>
          <p:cNvSpPr txBox="1"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e-12"/>
          <p:cNvSpPr txBox="1"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diagnostic</a:t>
            </a:r>
            <a:endParaRPr lang="en-US" sz="2200" dirty="0"/>
          </a:p>
        </p:txBody>
      </p:sp>
      <p:sp>
        <p:nvSpPr>
          <p:cNvPr id="14" name="texte-13"/>
          <p:cNvSpPr txBox="1"/>
          <p:nvPr/>
        </p:nvSpPr>
        <p:spPr>
          <a:xfrm>
            <a:off x="461772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caniveaux sont bouchés par environ 5 000 t de déchets produits chaque jour, le curage est réactif, et l'alerte n'atteint pas le dernier kilomètre. Les acteurs travaillent en silos.</a:t>
            </a:r>
            <a:endParaRPr lang="en-US" sz="1400" dirty="0"/>
          </a:p>
        </p:txBody>
      </p:sp>
      <p:sp>
        <p:nvSpPr>
          <p:cNvPr id="15" name="carte-14"/>
          <p:cNvSpPr/>
          <p:nvPr/>
        </p:nvSpPr>
        <p:spPr>
          <a:xfrm>
            <a:off x="804672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6" name="pastille-15"/>
          <p:cNvSpPr/>
          <p:nvPr/>
        </p:nvSpPr>
        <p:spPr>
          <a:xfrm>
            <a:off x="8366760" y="205740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7" name="texte-16"/>
          <p:cNvSpPr txBox="1"/>
          <p:nvPr/>
        </p:nvSpPr>
        <p:spPr>
          <a:xfrm>
            <a:off x="8366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e-17"/>
          <p:cNvSpPr txBox="1"/>
          <p:nvPr/>
        </p:nvSpPr>
        <p:spPr>
          <a:xfrm>
            <a:off x="83667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proposition</a:t>
            </a:r>
            <a:endParaRPr lang="en-US" sz="2200" dirty="0"/>
          </a:p>
        </p:txBody>
      </p:sp>
      <p:sp>
        <p:nvSpPr>
          <p:cNvPr id="19" name="texte-18"/>
          <p:cNvSpPr txBox="1"/>
          <p:nvPr/>
        </p:nvSpPr>
        <p:spPr>
          <a:xfrm>
            <a:off x="836676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Kanivo relie signalement citoyen, score de risque hyperlocal, curage priorisé et alerte multilingue géociblée, sur USSD, SMS, vocal et WhatsApp.</a:t>
            </a:r>
            <a:endParaRPr lang="en-US" sz="1400" dirty="0"/>
          </a:p>
        </p:txBody>
      </p:sp>
      <p:sp>
        <p:nvSpPr>
          <p:cNvPr id="20" name="carte-19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8A1F">
              <a:alpha val="12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21" name="texte-20"/>
          <p:cNvSpPr txBox="1"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Décision attendue 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lancer un pilote de 6 mois à Attécoubé et Abobo, opérationnel avant le 15 mai 2027.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01 · LE CONSTAT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bilan qui s'alourdit dans une ville de 6,3 millions d'habitants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Gouvernement via Fratmat/AllAfrica (1er juil. 2026) ; GFDRR City Scan ; Ministère de l'Hydraulique, de l'Assainissement et de la Salubrité (mars 2026) ; INS, RGPH 2021.</a:t>
            </a:r>
            <a:endParaRPr lang="en-US" sz="1000" dirty="0"/>
          </a:p>
        </p:txBody>
      </p:sp>
      <p:sp>
        <p:nvSpPr>
          <p:cNvPr id="5" name="carte-21"/>
          <p:cNvSpPr/>
          <p:nvPr/>
        </p:nvSpPr>
        <p:spPr>
          <a:xfrm>
            <a:off x="548640" y="18288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texte-22"/>
          <p:cNvSpPr txBox="1"/>
          <p:nvPr/>
        </p:nvSpPr>
        <p:spPr>
          <a:xfrm>
            <a:off x="822960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400" dirty="0"/>
          </a:p>
        </p:txBody>
      </p:sp>
      <p:sp>
        <p:nvSpPr>
          <p:cNvPr id="7" name="texte-23"/>
          <p:cNvSpPr txBox="1"/>
          <p:nvPr/>
        </p:nvSpPr>
        <p:spPr>
          <a:xfrm>
            <a:off x="822960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morts annoncés après les pluies du 28-29 juin 2026</a:t>
            </a:r>
            <a:endParaRPr lang="en-US" sz="1400" dirty="0"/>
          </a:p>
        </p:txBody>
      </p:sp>
      <p:sp>
        <p:nvSpPr>
          <p:cNvPr id="8" name="carte-24"/>
          <p:cNvSpPr/>
          <p:nvPr/>
        </p:nvSpPr>
        <p:spPr>
          <a:xfrm>
            <a:off x="3355848" y="18288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9" name="texte-25"/>
          <p:cNvSpPr txBox="1"/>
          <p:nvPr/>
        </p:nvSpPr>
        <p:spPr>
          <a:xfrm>
            <a:off x="3630168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26 %</a:t>
            </a:r>
            <a:endParaRPr lang="en-US" sz="4400" dirty="0"/>
          </a:p>
        </p:txBody>
      </p:sp>
      <p:sp>
        <p:nvSpPr>
          <p:cNvPr id="10" name="texte-26"/>
          <p:cNvSpPr txBox="1"/>
          <p:nvPr/>
        </p:nvSpPr>
        <p:spPr>
          <a:xfrm>
            <a:off x="3630168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du district exposé aux inondations et aux glissements de terrain</a:t>
            </a:r>
            <a:endParaRPr lang="en-US" sz="1400" dirty="0"/>
          </a:p>
        </p:txBody>
      </p:sp>
      <p:sp>
        <p:nvSpPr>
          <p:cNvPr id="11" name="carte-27"/>
          <p:cNvSpPr/>
          <p:nvPr/>
        </p:nvSpPr>
        <p:spPr>
          <a:xfrm>
            <a:off x="6163056" y="18288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2" name="texte-28"/>
          <p:cNvSpPr txBox="1"/>
          <p:nvPr/>
        </p:nvSpPr>
        <p:spPr>
          <a:xfrm>
            <a:off x="6437376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 t</a:t>
            </a:r>
            <a:endParaRPr lang="en-US" sz="4400" dirty="0"/>
          </a:p>
        </p:txBody>
      </p:sp>
      <p:sp>
        <p:nvSpPr>
          <p:cNvPr id="13" name="texte-29"/>
          <p:cNvSpPr txBox="1"/>
          <p:nvPr/>
        </p:nvSpPr>
        <p:spPr>
          <a:xfrm>
            <a:off x="6437376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 déchets solides produits chaque jour à Abidjan</a:t>
            </a:r>
            <a:endParaRPr lang="en-US" sz="1400" dirty="0"/>
          </a:p>
        </p:txBody>
      </p:sp>
      <p:sp>
        <p:nvSpPr>
          <p:cNvPr id="14" name="carte-30"/>
          <p:cNvSpPr/>
          <p:nvPr/>
        </p:nvSpPr>
        <p:spPr>
          <a:xfrm>
            <a:off x="8970264" y="1828800"/>
            <a:ext cx="2624328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5" name="texte-31"/>
          <p:cNvSpPr txBox="1"/>
          <p:nvPr/>
        </p:nvSpPr>
        <p:spPr>
          <a:xfrm>
            <a:off x="9244584" y="2103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 M</a:t>
            </a:r>
            <a:endParaRPr lang="en-US" sz="4400" dirty="0"/>
          </a:p>
        </p:txBody>
      </p:sp>
      <p:sp>
        <p:nvSpPr>
          <p:cNvPr id="16" name="texte-32"/>
          <p:cNvSpPr txBox="1"/>
          <p:nvPr/>
        </p:nvSpPr>
        <p:spPr>
          <a:xfrm>
            <a:off x="9244584" y="3154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habitants dans le District autonome (RGPH 2021)</a:t>
            </a:r>
            <a:endParaRPr lang="en-US" sz="1400" dirty="0"/>
          </a:p>
        </p:txBody>
      </p:sp>
      <p:sp>
        <p:nvSpPr>
          <p:cNvPr id="17" name="cercle-icone-33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8" name="icone-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4879604"/>
            <a:ext cx="317480" cy="317480"/>
          </a:xfrm>
          <a:prstGeom prst="rect">
            <a:avLst/>
          </a:prstGeom>
        </p:spPr>
      </p:pic>
      <p:sp>
        <p:nvSpPr>
          <p:cNvPr id="19" name="texte-35"/>
          <p:cNvSpPr txBox="1"/>
          <p:nvPr/>
        </p:nvSpPr>
        <p:spPr>
          <a:xfrm>
            <a:off x="1325880" y="47548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Lecture 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les moyens existent (pluviomètres, grands travaux, 49,7 M d'abonnements mobiles). Ce qui manque, c'est la coordination de terrain avant et pendant la pluie.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02 · TRENTE ANS DE RÉPÉTITION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est l'épisode le plus meurtrier jamais recensé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presse nationale et internationale ; ONPC (juin 2024) ; Gouvernement (juil. 2026). Bilans provisoires pour 2025.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te-36"/>
          <p:cNvSpPr/>
          <p:nvPr/>
        </p:nvSpPr>
        <p:spPr>
          <a:xfrm>
            <a:off x="7863840" y="1783080"/>
            <a:ext cx="3749040" cy="39776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7" name="texte-37"/>
          <p:cNvSpPr txBox="1"/>
          <p:nvPr/>
        </p:nvSpPr>
        <p:spPr>
          <a:xfrm>
            <a:off x="81381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Récurrence</a:t>
            </a:r>
            <a:endParaRPr lang="en-US" sz="1500" dirty="0"/>
          </a:p>
        </p:txBody>
      </p:sp>
      <p:sp>
        <p:nvSpPr>
          <p:cNvPr id="8" name="texte-38"/>
          <p:cNvSpPr txBox="1"/>
          <p:nvPr/>
        </p:nvSpPr>
        <p:spPr>
          <a:xfrm>
            <a:off x="8138160" y="2331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 épisode meurtrier presque chaque saison, de mai à juillet.</a:t>
            </a:r>
            <a:endParaRPr lang="en-US" sz="1400" dirty="0"/>
          </a:p>
        </p:txBody>
      </p:sp>
      <p:sp>
        <p:nvSpPr>
          <p:cNvPr id="9" name="texte-39"/>
          <p:cNvSpPr txBox="1"/>
          <p:nvPr/>
        </p:nvSpPr>
        <p:spPr>
          <a:xfrm>
            <a:off x="813816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Aggravation</a:t>
            </a:r>
            <a:endParaRPr lang="en-US" sz="1500" dirty="0"/>
          </a:p>
        </p:txBody>
      </p:sp>
      <p:sp>
        <p:nvSpPr>
          <p:cNvPr id="10" name="texte-40"/>
          <p:cNvSpPr txBox="1"/>
          <p:nvPr/>
        </p:nvSpPr>
        <p:spPr>
          <a:xfrm>
            <a:off x="8138160" y="35387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59 morts en une nuit en 2026, plus du double de 2024.</a:t>
            </a:r>
            <a:endParaRPr lang="en-US" sz="1400" dirty="0"/>
          </a:p>
        </p:txBody>
      </p:sp>
      <p:sp>
        <p:nvSpPr>
          <p:cNvPr id="11" name="texte-41"/>
          <p:cNvSpPr txBox="1"/>
          <p:nvPr/>
        </p:nvSpPr>
        <p:spPr>
          <a:xfrm>
            <a:off x="8138160" y="4425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Localisation</a:t>
            </a:r>
            <a:endParaRPr lang="en-US" sz="1500" dirty="0"/>
          </a:p>
        </p:txBody>
      </p:sp>
      <p:sp>
        <p:nvSpPr>
          <p:cNvPr id="12" name="texte-42"/>
          <p:cNvSpPr txBox="1"/>
          <p:nvPr/>
        </p:nvSpPr>
        <p:spPr>
          <a:xfrm>
            <a:off x="8138160" y="474573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Attécoubé concentre une vingtaine de victimes en 2026, sur des sites évacués puis réoccupés.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03 · EXPOSITION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Écoles, hôpitaux et routes sont en première ligne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GFDRR City Scan Abidjan ; Banque mondiale / GFDRR, PDNA 2018 ; UNDRR, profil de risque (perte modélisée).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te-43"/>
          <p:cNvSpPr/>
          <p:nvPr/>
        </p:nvSpPr>
        <p:spPr>
          <a:xfrm>
            <a:off x="7680960" y="1783080"/>
            <a:ext cx="393192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7" name="texte-44"/>
          <p:cNvSpPr txBox="1"/>
          <p:nvPr/>
        </p:nvSpPr>
        <p:spPr>
          <a:xfrm>
            <a:off x="795528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443 M$</a:t>
            </a:r>
            <a:endParaRPr lang="en-US" sz="3600" dirty="0"/>
          </a:p>
        </p:txBody>
      </p:sp>
      <p:sp>
        <p:nvSpPr>
          <p:cNvPr id="8" name="texte-45"/>
          <p:cNvSpPr txBox="1"/>
          <p:nvPr/>
        </p:nvSpPr>
        <p:spPr>
          <a:xfrm>
            <a:off x="79552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 perte probable pour une crue centennale à l'échelle nationale (modèle UNDRR)</a:t>
            </a:r>
            <a:endParaRPr lang="en-US" sz="1400" dirty="0"/>
          </a:p>
        </p:txBody>
      </p:sp>
      <p:sp>
        <p:nvSpPr>
          <p:cNvPr id="9" name="carte-46"/>
          <p:cNvSpPr/>
          <p:nvPr/>
        </p:nvSpPr>
        <p:spPr>
          <a:xfrm>
            <a:off x="7680960" y="3886200"/>
            <a:ext cx="393192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0" name="texte-47"/>
          <p:cNvSpPr txBox="1"/>
          <p:nvPr/>
        </p:nvSpPr>
        <p:spPr>
          <a:xfrm>
            <a:off x="7955280" y="4069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1 140</a:t>
            </a:r>
            <a:endParaRPr lang="en-US" sz="3600" dirty="0"/>
          </a:p>
        </p:txBody>
      </p:sp>
      <p:sp>
        <p:nvSpPr>
          <p:cNvPr id="11" name="texte-48"/>
          <p:cNvSpPr txBox="1"/>
          <p:nvPr/>
        </p:nvSpPr>
        <p:spPr>
          <a:xfrm>
            <a:off x="7955280" y="48006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bâtiments résidentiels endommagés lors de l'épisode de juin 2018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· ARBRE DES CAUSES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causes qui s'entretiennent les unes les autres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Banque mondiale P168308 ; ONU-Habitat (données ANASUR 2016) ; GFDRR ; Gouvernement (juil. 2026) ; AIP (chaîne d'alerte).</a:t>
            </a:r>
            <a:endParaRPr lang="en-US" sz="1000" dirty="0"/>
          </a:p>
        </p:txBody>
      </p:sp>
      <p:sp>
        <p:nvSpPr>
          <p:cNvPr id="5" name="carte-49"/>
          <p:cNvSpPr/>
          <p:nvPr/>
        </p:nvSpPr>
        <p:spPr>
          <a:xfrm>
            <a:off x="548640" y="1783080"/>
            <a:ext cx="3749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pastille-50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e-51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e-52"/>
          <p:cNvSpPr txBox="1"/>
          <p:nvPr/>
        </p:nvSpPr>
        <p:spPr>
          <a:xfrm>
            <a:off x="1463040" y="2075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Drainage obstrué</a:t>
            </a:r>
            <a:endParaRPr lang="en-US" sz="1800" dirty="0"/>
          </a:p>
        </p:txBody>
      </p:sp>
      <p:sp>
        <p:nvSpPr>
          <p:cNvPr id="9" name="texte-53"/>
          <p:cNvSpPr txBox="1"/>
          <p:nvPr/>
        </p:nvSpPr>
        <p:spPr>
          <a:xfrm>
            <a:off x="822960" y="2651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Déchets, sédiments et constructions bouchent les caniveaux. Environ 2 000 t/jour échappaient à la collecte (2016). Le curage est réactif.</a:t>
            </a:r>
            <a:endParaRPr lang="en-US" sz="1400" dirty="0"/>
          </a:p>
        </p:txBody>
      </p:sp>
      <p:sp>
        <p:nvSpPr>
          <p:cNvPr id="10" name="carte-54"/>
          <p:cNvSpPr/>
          <p:nvPr/>
        </p:nvSpPr>
        <p:spPr>
          <a:xfrm>
            <a:off x="4480560" y="1783080"/>
            <a:ext cx="3749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1" name="pastille-55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e-56"/>
          <p:cNvSpPr txBox="1"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texte-57"/>
          <p:cNvSpPr txBox="1"/>
          <p:nvPr/>
        </p:nvSpPr>
        <p:spPr>
          <a:xfrm>
            <a:off x="5394960" y="2075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Urbanisation non planifiée</a:t>
            </a:r>
            <a:endParaRPr lang="en-US" sz="1800" dirty="0"/>
          </a:p>
        </p:txBody>
      </p:sp>
      <p:sp>
        <p:nvSpPr>
          <p:cNvPr id="14" name="texte-58"/>
          <p:cNvSpPr txBox="1"/>
          <p:nvPr/>
        </p:nvSpPr>
        <p:spPr>
          <a:xfrm>
            <a:off x="4754880" y="2651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 population a plus que doublé depuis 2001. Bassins d'orage et talwegs sont occupés.</a:t>
            </a:r>
            <a:endParaRPr lang="en-US" sz="1400" dirty="0"/>
          </a:p>
        </p:txBody>
      </p:sp>
      <p:sp>
        <p:nvSpPr>
          <p:cNvPr id="15" name="carte-59"/>
          <p:cNvSpPr/>
          <p:nvPr/>
        </p:nvSpPr>
        <p:spPr>
          <a:xfrm>
            <a:off x="548640" y="3886200"/>
            <a:ext cx="3749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6" name="pastille-60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e-61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</a:t>
            </a:r>
            <a:endParaRPr lang="en-US" sz="1300" dirty="0"/>
          </a:p>
        </p:txBody>
      </p:sp>
      <p:sp>
        <p:nvSpPr>
          <p:cNvPr id="18" name="texte-62"/>
          <p:cNvSpPr txBox="1"/>
          <p:nvPr/>
        </p:nvSpPr>
        <p:spPr>
          <a:xfrm>
            <a:off x="1463040" y="4178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en zone rouge</a:t>
            </a:r>
            <a:endParaRPr lang="en-US" sz="1800" dirty="0"/>
          </a:p>
        </p:txBody>
      </p:sp>
      <p:sp>
        <p:nvSpPr>
          <p:cNvPr id="19" name="texte-63"/>
          <p:cNvSpPr txBox="1"/>
          <p:nvPr/>
        </p:nvSpPr>
        <p:spPr>
          <a:xfrm>
            <a:off x="822960" y="47548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Sans relogement suivi, les sites évacués sont réoccupés, comme à Attécoubé en 2026.</a:t>
            </a:r>
            <a:endParaRPr lang="en-US" sz="1400" dirty="0"/>
          </a:p>
        </p:txBody>
      </p:sp>
      <p:sp>
        <p:nvSpPr>
          <p:cNvPr id="20" name="carte-64"/>
          <p:cNvSpPr/>
          <p:nvPr/>
        </p:nvSpPr>
        <p:spPr>
          <a:xfrm>
            <a:off x="4480560" y="3886200"/>
            <a:ext cx="3749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1" name="pastille-65"/>
          <p:cNvSpPr/>
          <p:nvPr/>
        </p:nvSpPr>
        <p:spPr>
          <a:xfrm>
            <a:off x="4754880" y="4160520"/>
            <a:ext cx="457200" cy="45720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e-66"/>
          <p:cNvSpPr txBox="1"/>
          <p:nvPr/>
        </p:nvSpPr>
        <p:spPr>
          <a:xfrm>
            <a:off x="47548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</a:t>
            </a:r>
            <a:endParaRPr lang="en-US" sz="1300" dirty="0"/>
          </a:p>
        </p:txBody>
      </p:sp>
      <p:sp>
        <p:nvSpPr>
          <p:cNvPr id="23" name="texte-67"/>
          <p:cNvSpPr txBox="1"/>
          <p:nvPr/>
        </p:nvSpPr>
        <p:spPr>
          <a:xfrm>
            <a:off x="5394960" y="4178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 qui n'arrive pas</a:t>
            </a:r>
            <a:endParaRPr lang="en-US" sz="1800" dirty="0"/>
          </a:p>
        </p:txBody>
      </p:sp>
      <p:sp>
        <p:nvSpPr>
          <p:cNvPr id="24" name="texte-68"/>
          <p:cNvSpPr txBox="1"/>
          <p:nvPr/>
        </p:nvSpPr>
        <p:spPr>
          <a:xfrm>
            <a:off x="4754880" y="47548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Messages génériques, en français, relayés par WhatsApp. Rien ne confirme qu'ils ont été reçus.</a:t>
            </a:r>
            <a:endParaRPr lang="en-US" sz="1400" dirty="0"/>
          </a:p>
        </p:txBody>
      </p:sp>
      <p:sp>
        <p:nvSpPr>
          <p:cNvPr id="25" name="carte-69"/>
          <p:cNvSpPr/>
          <p:nvPr/>
        </p:nvSpPr>
        <p:spPr>
          <a:xfrm>
            <a:off x="8503920" y="1783080"/>
            <a:ext cx="3108960" cy="4023360"/>
          </a:xfrm>
          <a:prstGeom prst="roundRect">
            <a:avLst>
              <a:gd name="adj" fmla="val 3529"/>
            </a:avLst>
          </a:prstGeom>
          <a:solidFill>
            <a:srgbClr val="3AD6C8">
              <a:alpha val="10000"/>
            </a:srgbClr>
          </a:solidFill>
          <a:ln w="9525">
            <a:solidFill>
              <a:srgbClr val="3AD6C8"/>
            </a:solidFill>
            <a:prstDash val="solid"/>
          </a:ln>
        </p:spPr>
      </p:sp>
      <p:sp>
        <p:nvSpPr>
          <p:cNvPr id="26" name="cercle-icone-70"/>
          <p:cNvSpPr/>
          <p:nvPr/>
        </p:nvSpPr>
        <p:spPr>
          <a:xfrm>
            <a:off x="8778240" y="2057400"/>
            <a:ext cx="566928" cy="566928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7" name="icone-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964" y="2182124"/>
            <a:ext cx="317480" cy="317480"/>
          </a:xfrm>
          <a:prstGeom prst="rect">
            <a:avLst/>
          </a:prstGeom>
        </p:spPr>
      </p:pic>
      <p:sp>
        <p:nvSpPr>
          <p:cNvPr id="28" name="texte-72"/>
          <p:cNvSpPr txBox="1"/>
          <p:nvPr/>
        </p:nvSpPr>
        <p:spPr>
          <a:xfrm>
            <a:off x="877824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commun</a:t>
            </a:r>
            <a:endParaRPr lang="en-US" sz="2000" dirty="0"/>
          </a:p>
        </p:txBody>
      </p:sp>
      <p:sp>
        <p:nvSpPr>
          <p:cNvPr id="29" name="texte-73"/>
          <p:cNvSpPr txBox="1"/>
          <p:nvPr/>
        </p:nvSpPr>
        <p:spPr>
          <a:xfrm>
            <a:off x="8778240" y="329184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Personne ne voit en temps réel l'état des caniveaux, la pluie prévue et les personnes exposées, au même endroit et au même moment.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05 · CARTOGRAPHIE DES ACTEURS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Chacun détient une pièce du puzzle, personne ne l'assemble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GWP Afrique de l'Ouest (2023) ; Fratmat (53 stations SODEXAM) ; Banque mondiale ; BAD (PAACA, 2021).</a:t>
            </a:r>
            <a:endParaRPr lang="en-US" sz="1000" dirty="0"/>
          </a:p>
        </p:txBody>
      </p:sp>
      <p:graphicFrame>
        <p:nvGraphicFramePr>
          <p:cNvPr id="8" name="tableau-acteu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43400"/>
                <a:gridCol w="3977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D6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D6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D6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lui manque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SODEXAM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Prévision météo, vigilance, 53 stations pluviométriques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canal de diffusion quartier par quartier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 à risque, secours, évacuation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vision temps réel du terrain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Collecte, pré-collecte, curage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priorisation par le risque, des preuves d'intervention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Ministère de l'Assainissement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Politique, grands travaux (Gourou, PAACA)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indicateurs par bassin versant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et 13 communes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Salubrité de proximité, brigades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outils numériques de suivi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Bailleurs (BM, BAD, AFD)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des ouvrages (315 M$ côté Banque mondiale)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mesure de l'entretien après livraison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Opérateurs télécoms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SMS, cell broadcast, mobile money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contenus d'alerte prêts à diffuser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Premiers témoins, premiers secours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moyen simple de signaler et d'être entendus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06 · POURQUOI L'EXISTANT ÉCHOUE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finance les ouvrages, pas leur entretien ni l'alerte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Sources : BAD (bassin du Gourou, PAACA : 16,15 km de canaux) ; DG Trésor (FASEP, 2022) ; Abidjan.net (VIGICLIMM) ; AIP ; Gouvernement (2026).</a:t>
            </a:r>
            <a:endParaRPr lang="en-US" sz="1000" dirty="0"/>
          </a:p>
        </p:txBody>
      </p:sp>
      <p:sp>
        <p:nvSpPr>
          <p:cNvPr id="5" name="texte-74"/>
          <p:cNvSpPr txBox="1"/>
          <p:nvPr/>
        </p:nvSpPr>
        <p:spPr>
          <a:xfrm>
            <a:off x="13258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DISPOSITIF</a:t>
            </a:r>
            <a:endParaRPr lang="en-US" sz="1100" dirty="0"/>
          </a:p>
        </p:txBody>
      </p:sp>
      <p:sp>
        <p:nvSpPr>
          <p:cNvPr id="6" name="texte-75"/>
          <p:cNvSpPr txBox="1"/>
          <p:nvPr/>
        </p:nvSpPr>
        <p:spPr>
          <a:xfrm>
            <a:off x="452628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CE QU'IL APPORTE</a:t>
            </a:r>
            <a:endParaRPr lang="en-US" sz="1100" dirty="0"/>
          </a:p>
        </p:txBody>
      </p:sp>
      <p:sp>
        <p:nvSpPr>
          <p:cNvPr id="7" name="texte-76"/>
          <p:cNvSpPr txBox="1"/>
          <p:nvPr/>
        </p:nvSpPr>
        <p:spPr>
          <a:xfrm>
            <a:off x="78638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POURQUOI ÇA NE SUFFIT PAS</a:t>
            </a:r>
            <a:endParaRPr lang="en-US" sz="1100" dirty="0"/>
          </a:p>
        </p:txBody>
      </p:sp>
      <p:sp>
        <p:nvSpPr>
          <p:cNvPr id="8" name="carte-77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9" name="cercle-icone-78"/>
          <p:cNvSpPr/>
          <p:nvPr/>
        </p:nvSpPr>
        <p:spPr>
          <a:xfrm>
            <a:off x="713232" y="2167128"/>
            <a:ext cx="566928" cy="566928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0" name="icone-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956" y="2291852"/>
            <a:ext cx="317480" cy="317480"/>
          </a:xfrm>
          <a:prstGeom prst="rect">
            <a:avLst/>
          </a:prstGeom>
        </p:spPr>
      </p:pic>
      <p:sp>
        <p:nvSpPr>
          <p:cNvPr id="11" name="texte-80"/>
          <p:cNvSpPr txBox="1"/>
          <p:nvPr/>
        </p:nvSpPr>
        <p:spPr>
          <a:xfrm>
            <a:off x="141732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Grands travaux de drainage</a:t>
            </a:r>
            <a:endParaRPr lang="en-US" sz="1600" dirty="0"/>
          </a:p>
        </p:txBody>
      </p:sp>
      <p:sp>
        <p:nvSpPr>
          <p:cNvPr id="12" name="texte-81"/>
          <p:cNvSpPr txBox="1"/>
          <p:nvPr/>
        </p:nvSpPr>
        <p:spPr>
          <a:xfrm>
            <a:off x="4526280" y="20116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Capacité hydraulique accrue (Gourou, PAACA)</a:t>
            </a:r>
            <a:endParaRPr lang="en-US" sz="1400" dirty="0"/>
          </a:p>
        </p:txBody>
      </p:sp>
      <p:sp>
        <p:nvSpPr>
          <p:cNvPr id="13" name="texte-82"/>
          <p:cNvSpPr txBox="1"/>
          <p:nvPr/>
        </p:nvSpPr>
        <p:spPr>
          <a:xfrm>
            <a:off x="7863840" y="20116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 ouvrage neuf bouché par les déchets perd sa capacité en une saison. L'entretien n'est pas piloté par la donnée.</a:t>
            </a:r>
            <a:endParaRPr lang="en-US" sz="1400" dirty="0"/>
          </a:p>
        </p:txBody>
      </p:sp>
      <p:sp>
        <p:nvSpPr>
          <p:cNvPr id="14" name="carte-83"/>
          <p:cNvSpPr/>
          <p:nvPr/>
        </p:nvSpPr>
        <p:spPr>
          <a:xfrm>
            <a:off x="548640" y="2999232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5" name="cercle-icone-84"/>
          <p:cNvSpPr/>
          <p:nvPr/>
        </p:nvSpPr>
        <p:spPr>
          <a:xfrm>
            <a:off x="713232" y="3154680"/>
            <a:ext cx="566928" cy="566928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6" name="icone-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56" y="3279404"/>
            <a:ext cx="317480" cy="317480"/>
          </a:xfrm>
          <a:prstGeom prst="rect">
            <a:avLst/>
          </a:prstGeom>
        </p:spPr>
      </p:pic>
      <p:sp>
        <p:nvSpPr>
          <p:cNvPr id="17" name="texte-86"/>
          <p:cNvSpPr txBox="1"/>
          <p:nvPr/>
        </p:nvSpPr>
        <p:spPr>
          <a:xfrm>
            <a:off x="1417320" y="29992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Vigilance météo et capteurs</a:t>
            </a:r>
            <a:endParaRPr lang="en-US" sz="1600" dirty="0"/>
          </a:p>
        </p:txBody>
      </p:sp>
      <p:sp>
        <p:nvSpPr>
          <p:cNvPr id="18" name="texte-87"/>
          <p:cNvSpPr txBox="1"/>
          <p:nvPr/>
        </p:nvSpPr>
        <p:spPr>
          <a:xfrm>
            <a:off x="4526280" y="2999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Bonne connaissance des précipitations (SODEXAM, VIGICLIMM, HD Rain)</a:t>
            </a:r>
            <a:endParaRPr lang="en-US" sz="1400" dirty="0"/>
          </a:p>
        </p:txBody>
      </p:sp>
      <p:sp>
        <p:nvSpPr>
          <p:cNvPr id="19" name="texte-88"/>
          <p:cNvSpPr txBox="1"/>
          <p:nvPr/>
        </p:nvSpPr>
        <p:spPr>
          <a:xfrm>
            <a:off x="7863840" y="299923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 donnée reste dans les institutions. Aucun message hyperlocal ni actionnable.</a:t>
            </a:r>
            <a:endParaRPr lang="en-US" sz="1400" dirty="0"/>
          </a:p>
        </p:txBody>
      </p:sp>
      <p:sp>
        <p:nvSpPr>
          <p:cNvPr id="20" name="carte-89"/>
          <p:cNvSpPr/>
          <p:nvPr/>
        </p:nvSpPr>
        <p:spPr>
          <a:xfrm>
            <a:off x="548640" y="3986784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1" name="cercle-icone-90"/>
          <p:cNvSpPr/>
          <p:nvPr/>
        </p:nvSpPr>
        <p:spPr>
          <a:xfrm>
            <a:off x="713232" y="4142232"/>
            <a:ext cx="566928" cy="566928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2" name="icone-9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" y="4266956"/>
            <a:ext cx="317480" cy="317480"/>
          </a:xfrm>
          <a:prstGeom prst="rect">
            <a:avLst/>
          </a:prstGeom>
        </p:spPr>
      </p:pic>
      <p:sp>
        <p:nvSpPr>
          <p:cNvPr id="23" name="texte-92"/>
          <p:cNvSpPr txBox="1"/>
          <p:nvPr/>
        </p:nvSpPr>
        <p:spPr>
          <a:xfrm>
            <a:off x="1417320" y="398678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Alertes WhatsApp et relais</a:t>
            </a:r>
            <a:endParaRPr lang="en-US" sz="1600" dirty="0"/>
          </a:p>
        </p:txBody>
      </p:sp>
      <p:sp>
        <p:nvSpPr>
          <p:cNvPr id="24" name="texte-93"/>
          <p:cNvSpPr txBox="1"/>
          <p:nvPr/>
        </p:nvSpPr>
        <p:spPr>
          <a:xfrm>
            <a:off x="4526280" y="398678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Rapides et gratuites</a:t>
            </a:r>
            <a:endParaRPr lang="en-US" sz="1400" dirty="0"/>
          </a:p>
        </p:txBody>
      </p:sp>
      <p:sp>
        <p:nvSpPr>
          <p:cNvPr id="25" name="texte-94"/>
          <p:cNvSpPr txBox="1"/>
          <p:nvPr/>
        </p:nvSpPr>
        <p:spPr>
          <a:xfrm>
            <a:off x="7863840" y="398678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Hétérogènes et non traçables : on ne sait ni qui a reçu, ni qui a agi.</a:t>
            </a:r>
            <a:endParaRPr lang="en-US" sz="1400" dirty="0"/>
          </a:p>
        </p:txBody>
      </p:sp>
      <p:sp>
        <p:nvSpPr>
          <p:cNvPr id="26" name="carte-95"/>
          <p:cNvSpPr/>
          <p:nvPr/>
        </p:nvSpPr>
        <p:spPr>
          <a:xfrm>
            <a:off x="548640" y="4974336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7" name="cercle-icone-96"/>
          <p:cNvSpPr/>
          <p:nvPr/>
        </p:nvSpPr>
        <p:spPr>
          <a:xfrm>
            <a:off x="713232" y="5129784"/>
            <a:ext cx="566928" cy="566928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8" name="icone-9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56" y="5254508"/>
            <a:ext cx="317480" cy="317480"/>
          </a:xfrm>
          <a:prstGeom prst="rect">
            <a:avLst/>
          </a:prstGeom>
        </p:spPr>
      </p:pic>
      <p:sp>
        <p:nvSpPr>
          <p:cNvPr id="29" name="texte-98"/>
          <p:cNvSpPr txBox="1"/>
          <p:nvPr/>
        </p:nvSpPr>
        <p:spPr>
          <a:xfrm>
            <a:off x="1417320" y="497433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Déguerpissements</a:t>
            </a:r>
            <a:endParaRPr lang="en-US" sz="1600" dirty="0"/>
          </a:p>
        </p:txBody>
      </p:sp>
      <p:sp>
        <p:nvSpPr>
          <p:cNvPr id="30" name="texte-99"/>
          <p:cNvSpPr txBox="1"/>
          <p:nvPr/>
        </p:nvSpPr>
        <p:spPr>
          <a:xfrm>
            <a:off x="4526280" y="497433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Retirent des personnes du danger</a:t>
            </a:r>
            <a:endParaRPr lang="en-US" sz="1400" dirty="0"/>
          </a:p>
        </p:txBody>
      </p:sp>
      <p:sp>
        <p:nvSpPr>
          <p:cNvPr id="31" name="texte-100"/>
          <p:cNvSpPr txBox="1"/>
          <p:nvPr/>
        </p:nvSpPr>
        <p:spPr>
          <a:xfrm>
            <a:off x="7863840" y="497433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Sans suivi ni accompagnement, les sites sont réoccupés.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LA SOLUTION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468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Kanivo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Voir · Prioriser · Prévenir</a:t>
            </a:r>
            <a:endParaRPr lang="en-US" sz="2200" dirty="0"/>
          </a:p>
        </p:txBody>
      </p:sp>
      <p:sp>
        <p:nvSpPr>
          <p:cNvPr id="5" name="texte-101"/>
          <p:cNvSpPr txBox="1"/>
          <p:nvPr/>
        </p:nvSpPr>
        <p:spPr>
          <a:xfrm>
            <a:off x="548640" y="4754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« Kanivo » vient de « caniveau », écrit comme on le prononce à Abidjan. L'ambition : rendre visible l'infrastructure invisible.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07 · QUATRE MODULES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boucle de données, conçue d'abord pour le téléphone simple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Hypothèses de conception Kanivo. Langues d'alerte : dioula, baoulé, nouchi et français.</a:t>
            </a:r>
            <a:endParaRPr lang="en-US" sz="1000" dirty="0"/>
          </a:p>
        </p:txBody>
      </p:sp>
      <p:sp>
        <p:nvSpPr>
          <p:cNvPr id="5" name="carte-102"/>
          <p:cNvSpPr/>
          <p:nvPr/>
        </p:nvSpPr>
        <p:spPr>
          <a:xfrm>
            <a:off x="548640" y="1783080"/>
            <a:ext cx="2624328" cy="406908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cercle-icone-103"/>
          <p:cNvSpPr/>
          <p:nvPr/>
        </p:nvSpPr>
        <p:spPr>
          <a:xfrm>
            <a:off x="804672" y="2029968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7" name="icone-1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170786"/>
            <a:ext cx="358445" cy="358445"/>
          </a:xfrm>
          <a:prstGeom prst="rect">
            <a:avLst/>
          </a:prstGeom>
        </p:spPr>
      </p:pic>
      <p:sp>
        <p:nvSpPr>
          <p:cNvPr id="8" name="texte-105"/>
          <p:cNvSpPr txBox="1"/>
          <p:nvPr/>
        </p:nvSpPr>
        <p:spPr>
          <a:xfrm>
            <a:off x="804672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01 · SIGNAL</a:t>
            </a:r>
            <a:endParaRPr lang="en-US" sz="1100" dirty="0"/>
          </a:p>
        </p:txBody>
      </p:sp>
      <p:sp>
        <p:nvSpPr>
          <p:cNvPr id="9" name="texte-106"/>
          <p:cNvSpPr txBox="1"/>
          <p:nvPr/>
        </p:nvSpPr>
        <p:spPr>
          <a:xfrm>
            <a:off x="804672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Signaler en 20 secondes</a:t>
            </a:r>
            <a:endParaRPr lang="en-US" sz="1800" dirty="0"/>
          </a:p>
        </p:txBody>
      </p:sp>
      <p:sp>
        <p:nvSpPr>
          <p:cNvPr id="10" name="texte-107"/>
          <p:cNvSpPr txBox="1"/>
          <p:nvPr/>
        </p:nvSpPr>
        <p:spPr>
          <a:xfrm>
            <a:off x="804672" y="384048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WhatsApp, USSD *700#, appli web légère. Photo, position GPS et gravité. L'IA estime l'obstruction et écarte les doublons.</a:t>
            </a:r>
            <a:endParaRPr lang="en-US" sz="1400" dirty="0"/>
          </a:p>
        </p:txBody>
      </p:sp>
      <p:sp>
        <p:nvSpPr>
          <p:cNvPr id="11" name="texte-108"/>
          <p:cNvSpPr txBox="1"/>
          <p:nvPr/>
        </p:nvSpPr>
        <p:spPr>
          <a:xfrm>
            <a:off x="804672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Pour : Citoyens, brigades</a:t>
            </a:r>
            <a:endParaRPr lang="en-US" sz="1200" dirty="0"/>
          </a:p>
        </p:txBody>
      </p:sp>
      <p:sp>
        <p:nvSpPr>
          <p:cNvPr id="12" name="carte-109"/>
          <p:cNvSpPr/>
          <p:nvPr/>
        </p:nvSpPr>
        <p:spPr>
          <a:xfrm>
            <a:off x="3355848" y="1783080"/>
            <a:ext cx="2624328" cy="406908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3" name="cercle-icone-110"/>
          <p:cNvSpPr/>
          <p:nvPr/>
        </p:nvSpPr>
        <p:spPr>
          <a:xfrm>
            <a:off x="3611880" y="2029968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4" name="icone-1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698" y="2170786"/>
            <a:ext cx="358445" cy="358445"/>
          </a:xfrm>
          <a:prstGeom prst="rect">
            <a:avLst/>
          </a:prstGeom>
        </p:spPr>
      </p:pic>
      <p:sp>
        <p:nvSpPr>
          <p:cNvPr id="15" name="texte-112"/>
          <p:cNvSpPr txBox="1"/>
          <p:nvPr/>
        </p:nvSpPr>
        <p:spPr>
          <a:xfrm>
            <a:off x="361188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02 · CARTE DE RISQUE</a:t>
            </a:r>
            <a:endParaRPr lang="en-US" sz="1100" dirty="0"/>
          </a:p>
        </p:txBody>
      </p:sp>
      <p:sp>
        <p:nvSpPr>
          <p:cNvPr id="16" name="texte-113"/>
          <p:cNvSpPr txBox="1"/>
          <p:nvPr/>
        </p:nvSpPr>
        <p:spPr>
          <a:xfrm>
            <a:off x="3611880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score par îlot de 250 m</a:t>
            </a:r>
            <a:endParaRPr lang="en-US" sz="1800" dirty="0"/>
          </a:p>
        </p:txBody>
      </p:sp>
      <p:sp>
        <p:nvSpPr>
          <p:cNvPr id="17" name="texte-114"/>
          <p:cNvSpPr txBox="1"/>
          <p:nvPr/>
        </p:nvSpPr>
        <p:spPr>
          <a:xfrm>
            <a:off x="3611880" y="384048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Pluie prévue × obstruction × pente × population exposée, recalculé chaque heure.</a:t>
            </a:r>
            <a:endParaRPr lang="en-US" sz="1400" dirty="0"/>
          </a:p>
        </p:txBody>
      </p:sp>
      <p:sp>
        <p:nvSpPr>
          <p:cNvPr id="18" name="texte-115"/>
          <p:cNvSpPr txBox="1"/>
          <p:nvPr/>
        </p:nvSpPr>
        <p:spPr>
          <a:xfrm>
            <a:off x="361188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Pour : ANAGED, communes, ONPC</a:t>
            </a:r>
            <a:endParaRPr lang="en-US" sz="1200" dirty="0"/>
          </a:p>
        </p:txBody>
      </p:sp>
      <p:sp>
        <p:nvSpPr>
          <p:cNvPr id="19" name="carte-116"/>
          <p:cNvSpPr/>
          <p:nvPr/>
        </p:nvSpPr>
        <p:spPr>
          <a:xfrm>
            <a:off x="6163056" y="1783080"/>
            <a:ext cx="2624328" cy="406908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0" name="cercle-icone-117"/>
          <p:cNvSpPr/>
          <p:nvPr/>
        </p:nvSpPr>
        <p:spPr>
          <a:xfrm>
            <a:off x="6419088" y="2029968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1" name="icone-1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06" y="2170786"/>
            <a:ext cx="358445" cy="358445"/>
          </a:xfrm>
          <a:prstGeom prst="rect">
            <a:avLst/>
          </a:prstGeom>
        </p:spPr>
      </p:pic>
      <p:sp>
        <p:nvSpPr>
          <p:cNvPr id="22" name="texte-119"/>
          <p:cNvSpPr txBox="1"/>
          <p:nvPr/>
        </p:nvSpPr>
        <p:spPr>
          <a:xfrm>
            <a:off x="6419088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03 · CURAGE PRIORISÉ</a:t>
            </a:r>
            <a:endParaRPr lang="en-US" sz="1100" dirty="0"/>
          </a:p>
        </p:txBody>
      </p:sp>
      <p:sp>
        <p:nvSpPr>
          <p:cNvPr id="23" name="texte-120"/>
          <p:cNvSpPr txBox="1"/>
          <p:nvPr/>
        </p:nvSpPr>
        <p:spPr>
          <a:xfrm>
            <a:off x="6419088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Curer avant la pluie</a:t>
            </a:r>
            <a:endParaRPr lang="en-US" sz="1800" dirty="0"/>
          </a:p>
        </p:txBody>
      </p:sp>
      <p:sp>
        <p:nvSpPr>
          <p:cNvPr id="24" name="texte-121"/>
          <p:cNvSpPr txBox="1"/>
          <p:nvPr/>
        </p:nvSpPr>
        <p:spPr>
          <a:xfrm>
            <a:off x="6419088" y="384048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Ordres de mission classés par risque, tournées optimisées, photo avant/après, paiement au résultat.</a:t>
            </a:r>
            <a:endParaRPr lang="en-US" sz="1400" dirty="0"/>
          </a:p>
        </p:txBody>
      </p:sp>
      <p:sp>
        <p:nvSpPr>
          <p:cNvPr id="25" name="texte-122"/>
          <p:cNvSpPr txBox="1"/>
          <p:nvPr/>
        </p:nvSpPr>
        <p:spPr>
          <a:xfrm>
            <a:off x="6419088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Pour : Brigades, prestataires</a:t>
            </a:r>
            <a:endParaRPr lang="en-US" sz="1200" dirty="0"/>
          </a:p>
        </p:txBody>
      </p:sp>
      <p:sp>
        <p:nvSpPr>
          <p:cNvPr id="26" name="carte-123"/>
          <p:cNvSpPr/>
          <p:nvPr/>
        </p:nvSpPr>
        <p:spPr>
          <a:xfrm>
            <a:off x="8970264" y="1783080"/>
            <a:ext cx="2624328" cy="4069080"/>
          </a:xfrm>
          <a:prstGeom prst="roundRect">
            <a:avLst>
              <a:gd name="adj" fmla="val 418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7" name="cercle-icone-124"/>
          <p:cNvSpPr/>
          <p:nvPr/>
        </p:nvSpPr>
        <p:spPr>
          <a:xfrm>
            <a:off x="9226296" y="2029968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8" name="icone-12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114" y="2170786"/>
            <a:ext cx="358445" cy="358445"/>
          </a:xfrm>
          <a:prstGeom prst="rect">
            <a:avLst/>
          </a:prstGeom>
        </p:spPr>
      </p:pic>
      <p:sp>
        <p:nvSpPr>
          <p:cNvPr id="29" name="texte-126"/>
          <p:cNvSpPr txBox="1"/>
          <p:nvPr/>
        </p:nvSpPr>
        <p:spPr>
          <a:xfrm>
            <a:off x="9226296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04 · ALERTE</a:t>
            </a:r>
            <a:endParaRPr lang="en-US" sz="1100" dirty="0"/>
          </a:p>
        </p:txBody>
      </p:sp>
      <p:sp>
        <p:nvSpPr>
          <p:cNvPr id="30" name="texte-127"/>
          <p:cNvSpPr txBox="1"/>
          <p:nvPr/>
        </p:nvSpPr>
        <p:spPr>
          <a:xfrm>
            <a:off x="9226296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dernier kilomètre</a:t>
            </a:r>
            <a:endParaRPr lang="en-US" sz="1800" dirty="0"/>
          </a:p>
        </p:txBody>
      </p:sp>
      <p:sp>
        <p:nvSpPr>
          <p:cNvPr id="31" name="texte-128"/>
          <p:cNvSpPr txBox="1"/>
          <p:nvPr/>
        </p:nvSpPr>
        <p:spPr>
          <a:xfrm>
            <a:off x="9226296" y="384048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SMS, vocal, WhatsApp et cell broadcast géociblés, 6 à 24 h avant. Un refuge et un accusé « tapez 1 ».</a:t>
            </a:r>
            <a:endParaRPr lang="en-US" sz="1400" dirty="0"/>
          </a:p>
        </p:txBody>
      </p:sp>
      <p:sp>
        <p:nvSpPr>
          <p:cNvPr id="32" name="texte-129"/>
          <p:cNvSpPr txBox="1"/>
          <p:nvPr/>
        </p:nvSpPr>
        <p:spPr>
          <a:xfrm>
            <a:off x="9226296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Pour : Habitants exposés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08 · COMMENT ÇA MARCHE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signalement d'un habitant à l'alerte qui sauve un quartier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Le score de risque est recalculé à chaque nouvelle prévision SODEXAM et à chaque signalement validé.</a:t>
            </a:r>
            <a:endParaRPr lang="en-US" sz="1000" dirty="0"/>
          </a:p>
        </p:txBody>
      </p:sp>
      <p:sp>
        <p:nvSpPr>
          <p:cNvPr id="5" name="carte-130"/>
          <p:cNvSpPr/>
          <p:nvPr/>
        </p:nvSpPr>
        <p:spPr>
          <a:xfrm>
            <a:off x="548640" y="1874520"/>
            <a:ext cx="2029968" cy="228600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cercle-icone-131"/>
          <p:cNvSpPr/>
          <p:nvPr/>
        </p:nvSpPr>
        <p:spPr>
          <a:xfrm>
            <a:off x="1243584" y="210312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7" name="icone-13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402" y="2243938"/>
            <a:ext cx="358445" cy="358445"/>
          </a:xfrm>
          <a:prstGeom prst="rect">
            <a:avLst/>
          </a:prstGeom>
        </p:spPr>
      </p:pic>
      <p:sp>
        <p:nvSpPr>
          <p:cNvPr id="8" name="texte-133"/>
          <p:cNvSpPr txBox="1"/>
          <p:nvPr/>
        </p:nvSpPr>
        <p:spPr>
          <a:xfrm>
            <a:off x="685800" y="2880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Signalement</a:t>
            </a:r>
            <a:endParaRPr lang="en-US" sz="1700" dirty="0"/>
          </a:p>
        </p:txBody>
      </p:sp>
      <p:sp>
        <p:nvSpPr>
          <p:cNvPr id="9" name="texte-134"/>
          <p:cNvSpPr txBox="1"/>
          <p:nvPr/>
        </p:nvSpPr>
        <p:spPr>
          <a:xfrm>
            <a:off x="731520" y="32918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 et GPS par WhatsApp ou USSD</a:t>
            </a:r>
            <a:endParaRPr lang="en-US" sz="1300" dirty="0"/>
          </a:p>
        </p:txBody>
      </p:sp>
      <p:sp>
        <p:nvSpPr>
          <p:cNvPr id="10" name="fleche-135"/>
          <p:cNvSpPr/>
          <p:nvPr/>
        </p:nvSpPr>
        <p:spPr>
          <a:xfrm>
            <a:off x="2596896" y="2898648"/>
            <a:ext cx="192024" cy="237744"/>
          </a:xfrm>
          <a:prstGeom prst="rightArrow">
            <a:avLst/>
          </a:prstGeom>
          <a:solidFill>
            <a:srgbClr val="3AD6C8"/>
          </a:solidFill>
          <a:ln w="12700">
            <a:solidFill>
              <a:srgbClr val="3AD6C8"/>
            </a:solidFill>
            <a:prstDash val="solid"/>
          </a:ln>
        </p:spPr>
      </p:sp>
      <p:sp>
        <p:nvSpPr>
          <p:cNvPr id="11" name="carte-136"/>
          <p:cNvSpPr/>
          <p:nvPr/>
        </p:nvSpPr>
        <p:spPr>
          <a:xfrm>
            <a:off x="2807208" y="1874520"/>
            <a:ext cx="2029968" cy="228600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2" name="cercle-icone-137"/>
          <p:cNvSpPr/>
          <p:nvPr/>
        </p:nvSpPr>
        <p:spPr>
          <a:xfrm>
            <a:off x="3502152" y="210312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3" name="icone-1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2243938"/>
            <a:ext cx="358445" cy="358445"/>
          </a:xfrm>
          <a:prstGeom prst="rect">
            <a:avLst/>
          </a:prstGeom>
        </p:spPr>
      </p:pic>
      <p:sp>
        <p:nvSpPr>
          <p:cNvPr id="14" name="texte-139"/>
          <p:cNvSpPr txBox="1"/>
          <p:nvPr/>
        </p:nvSpPr>
        <p:spPr>
          <a:xfrm>
            <a:off x="2944368" y="2880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</a:t>
            </a:r>
            <a:endParaRPr lang="en-US" sz="1700" dirty="0"/>
          </a:p>
        </p:txBody>
      </p:sp>
      <p:sp>
        <p:nvSpPr>
          <p:cNvPr id="15" name="texte-140"/>
          <p:cNvSpPr txBox="1"/>
          <p:nvPr/>
        </p:nvSpPr>
        <p:spPr>
          <a:xfrm>
            <a:off x="2990088" y="32918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IA (doublons, EXIF, géofence) et brigade</a:t>
            </a:r>
            <a:endParaRPr lang="en-US" sz="1300" dirty="0"/>
          </a:p>
        </p:txBody>
      </p:sp>
      <p:sp>
        <p:nvSpPr>
          <p:cNvPr id="16" name="fleche-141"/>
          <p:cNvSpPr/>
          <p:nvPr/>
        </p:nvSpPr>
        <p:spPr>
          <a:xfrm>
            <a:off x="4855464" y="2898648"/>
            <a:ext cx="192024" cy="237744"/>
          </a:xfrm>
          <a:prstGeom prst="rightArrow">
            <a:avLst/>
          </a:prstGeom>
          <a:solidFill>
            <a:srgbClr val="3AD6C8"/>
          </a:solidFill>
          <a:ln w="12700">
            <a:solidFill>
              <a:srgbClr val="3AD6C8"/>
            </a:solidFill>
            <a:prstDash val="solid"/>
          </a:ln>
        </p:spPr>
      </p:sp>
      <p:sp>
        <p:nvSpPr>
          <p:cNvPr id="17" name="carte-142"/>
          <p:cNvSpPr/>
          <p:nvPr/>
        </p:nvSpPr>
        <p:spPr>
          <a:xfrm>
            <a:off x="5065776" y="1874520"/>
            <a:ext cx="2029968" cy="228600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8" name="cercle-icone-143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9" name="icone-1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2243938"/>
            <a:ext cx="358445" cy="358445"/>
          </a:xfrm>
          <a:prstGeom prst="rect">
            <a:avLst/>
          </a:prstGeom>
        </p:spPr>
      </p:pic>
      <p:sp>
        <p:nvSpPr>
          <p:cNvPr id="20" name="texte-145"/>
          <p:cNvSpPr txBox="1"/>
          <p:nvPr/>
        </p:nvSpPr>
        <p:spPr>
          <a:xfrm>
            <a:off x="5202936" y="2880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de risque</a:t>
            </a:r>
            <a:endParaRPr lang="en-US" sz="1700" dirty="0"/>
          </a:p>
        </p:txBody>
      </p:sp>
      <p:sp>
        <p:nvSpPr>
          <p:cNvPr id="21" name="texte-146"/>
          <p:cNvSpPr txBox="1"/>
          <p:nvPr/>
        </p:nvSpPr>
        <p:spPr>
          <a:xfrm>
            <a:off x="5248656" y="32918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Îlot de 250 m, actualisé chaque heure</a:t>
            </a:r>
            <a:endParaRPr lang="en-US" sz="1300" dirty="0"/>
          </a:p>
        </p:txBody>
      </p:sp>
      <p:sp>
        <p:nvSpPr>
          <p:cNvPr id="22" name="fleche-147"/>
          <p:cNvSpPr/>
          <p:nvPr/>
        </p:nvSpPr>
        <p:spPr>
          <a:xfrm>
            <a:off x="7114032" y="2898648"/>
            <a:ext cx="192024" cy="237744"/>
          </a:xfrm>
          <a:prstGeom prst="rightArrow">
            <a:avLst/>
          </a:prstGeom>
          <a:solidFill>
            <a:srgbClr val="3AD6C8"/>
          </a:solidFill>
          <a:ln w="12700">
            <a:solidFill>
              <a:srgbClr val="3AD6C8"/>
            </a:solidFill>
            <a:prstDash val="solid"/>
          </a:ln>
        </p:spPr>
      </p:sp>
      <p:sp>
        <p:nvSpPr>
          <p:cNvPr id="23" name="carte-148"/>
          <p:cNvSpPr/>
          <p:nvPr/>
        </p:nvSpPr>
        <p:spPr>
          <a:xfrm>
            <a:off x="7324344" y="1874520"/>
            <a:ext cx="2029968" cy="228600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4" name="cercle-icone-149"/>
          <p:cNvSpPr/>
          <p:nvPr/>
        </p:nvSpPr>
        <p:spPr>
          <a:xfrm>
            <a:off x="8019288" y="210312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5" name="icone-15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106" y="2243938"/>
            <a:ext cx="358445" cy="358445"/>
          </a:xfrm>
          <a:prstGeom prst="rect">
            <a:avLst/>
          </a:prstGeom>
        </p:spPr>
      </p:pic>
      <p:sp>
        <p:nvSpPr>
          <p:cNvPr id="26" name="texte-151"/>
          <p:cNvSpPr txBox="1"/>
          <p:nvPr/>
        </p:nvSpPr>
        <p:spPr>
          <a:xfrm>
            <a:off x="7461504" y="2880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Curage</a:t>
            </a:r>
            <a:endParaRPr lang="en-US" sz="1700" dirty="0"/>
          </a:p>
        </p:txBody>
      </p:sp>
      <p:sp>
        <p:nvSpPr>
          <p:cNvPr id="27" name="texte-152"/>
          <p:cNvSpPr txBox="1"/>
          <p:nvPr/>
        </p:nvSpPr>
        <p:spPr>
          <a:xfrm>
            <a:off x="7507224" y="32918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Ordre de mission, preuve photo</a:t>
            </a:r>
            <a:endParaRPr lang="en-US" sz="1300" dirty="0"/>
          </a:p>
        </p:txBody>
      </p:sp>
      <p:sp>
        <p:nvSpPr>
          <p:cNvPr id="28" name="fleche-153"/>
          <p:cNvSpPr/>
          <p:nvPr/>
        </p:nvSpPr>
        <p:spPr>
          <a:xfrm>
            <a:off x="9372600" y="2898648"/>
            <a:ext cx="192024" cy="237744"/>
          </a:xfrm>
          <a:prstGeom prst="rightArrow">
            <a:avLst/>
          </a:prstGeom>
          <a:solidFill>
            <a:srgbClr val="3AD6C8"/>
          </a:solidFill>
          <a:ln w="12700">
            <a:solidFill>
              <a:srgbClr val="3AD6C8"/>
            </a:solidFill>
            <a:prstDash val="solid"/>
          </a:ln>
        </p:spPr>
      </p:sp>
      <p:sp>
        <p:nvSpPr>
          <p:cNvPr id="29" name="carte-154"/>
          <p:cNvSpPr/>
          <p:nvPr/>
        </p:nvSpPr>
        <p:spPr>
          <a:xfrm>
            <a:off x="9582912" y="1874520"/>
            <a:ext cx="2029968" cy="228600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30" name="cercle-icone-155"/>
          <p:cNvSpPr/>
          <p:nvPr/>
        </p:nvSpPr>
        <p:spPr>
          <a:xfrm>
            <a:off x="10277856" y="210312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31" name="icone-15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674" y="2243938"/>
            <a:ext cx="358445" cy="358445"/>
          </a:xfrm>
          <a:prstGeom prst="rect">
            <a:avLst/>
          </a:prstGeom>
        </p:spPr>
      </p:pic>
      <p:sp>
        <p:nvSpPr>
          <p:cNvPr id="32" name="texte-157"/>
          <p:cNvSpPr txBox="1"/>
          <p:nvPr/>
        </p:nvSpPr>
        <p:spPr>
          <a:xfrm>
            <a:off x="9720072" y="2880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</a:t>
            </a:r>
            <a:endParaRPr lang="en-US" sz="1700" dirty="0"/>
          </a:p>
        </p:txBody>
      </p:sp>
      <p:sp>
        <p:nvSpPr>
          <p:cNvPr id="33" name="texte-158"/>
          <p:cNvSpPr txBox="1"/>
          <p:nvPr/>
        </p:nvSpPr>
        <p:spPr>
          <a:xfrm>
            <a:off x="9765792" y="329184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Géociblée, multilingue, accusé de réception</a:t>
            </a:r>
            <a:endParaRPr lang="en-US" sz="1300" dirty="0"/>
          </a:p>
        </p:txBody>
      </p:sp>
      <p:sp>
        <p:nvSpPr>
          <p:cNvPr id="34" name="carte-159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3AD6C8">
              <a:alpha val="10000"/>
            </a:srgbClr>
          </a:solidFill>
          <a:ln w="9525">
            <a:solidFill>
              <a:srgbClr val="3AD6C8"/>
            </a:solidFill>
            <a:prstDash val="solid"/>
          </a:ln>
        </p:spPr>
      </p:sp>
      <p:sp>
        <p:nvSpPr>
          <p:cNvPr id="35" name="texte-160"/>
          <p:cNvSpPr txBox="1"/>
          <p:nvPr/>
        </p:nvSpPr>
        <p:spPr>
          <a:xfrm>
            <a:off x="86868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SCORE DE RISQUE</a:t>
            </a:r>
            <a:endParaRPr lang="en-US" sz="1100" dirty="0"/>
          </a:p>
        </p:txBody>
      </p:sp>
      <p:sp>
        <p:nvSpPr>
          <p:cNvPr id="36" name="texte-161"/>
          <p:cNvSpPr txBox="1"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risque = pluie prévue × obstruction × pente × population exposée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09 · DÉMO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site et un prototype interactif déjà en ligne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Captures réelles du site, recette automatisée Playwright et Lighthouse du 22 octobre 2026.</a:t>
            </a:r>
            <a:endParaRPr lang="en-US" sz="1000" dirty="0"/>
          </a:p>
        </p:txBody>
      </p:sp>
      <p:sp>
        <p:nvSpPr>
          <p:cNvPr id="5" name="cadre-demo"/>
          <p:cNvSpPr/>
          <p:nvPr/>
        </p:nvSpPr>
        <p:spPr>
          <a:xfrm>
            <a:off x="512064" y="1700784"/>
            <a:ext cx="6748272" cy="4224528"/>
          </a:xfrm>
          <a:prstGeom prst="roundRect">
            <a:avLst>
              <a:gd name="adj" fmla="val 1732"/>
            </a:avLst>
          </a:prstGeom>
          <a:solidFill>
            <a:srgbClr val="1C3A48"/>
          </a:solidFill>
          <a:ln w="12700">
            <a:solidFill>
              <a:srgbClr val="1C3A48"/>
            </a:solidFill>
            <a:prstDash val="solid"/>
          </a:ln>
        </p:spPr>
      </p:sp>
      <p:pic>
        <p:nvPicPr>
          <p:cNvPr id="6" name="capture-prototype" descr="C:\Users\ELIE EHOUSSOU\Documents\PERSONNEL\kanivo\livrable\captures\desktop-07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675120" cy="4171950"/>
          </a:xfrm>
          <a:prstGeom prst="rect">
            <a:avLst/>
          </a:prstGeom>
        </p:spPr>
      </p:pic>
      <p:pic>
        <p:nvPicPr>
          <p:cNvPr id="7" name="capture-hero" descr="C:\Users\ELIE EHOUSSOU\Documents\PERSONNEL\kanivo\livrable\captures\desktop-01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37360"/>
            <a:ext cx="4069080" cy="2542032"/>
          </a:xfrm>
          <a:prstGeom prst="rect">
            <a:avLst/>
          </a:prstGeom>
        </p:spPr>
      </p:pic>
      <p:sp>
        <p:nvSpPr>
          <p:cNvPr id="8" name="texte-162"/>
          <p:cNvSpPr txBox="1"/>
          <p:nvPr/>
        </p:nvSpPr>
        <p:spPr>
          <a:xfrm>
            <a:off x="7543800" y="4434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pethuelelie-glitch.github.io/kanivo</a:t>
            </a:r>
            <a:endParaRPr lang="en-US" sz="1500" dirty="0"/>
          </a:p>
        </p:txBody>
      </p:sp>
      <p:sp>
        <p:nvSpPr>
          <p:cNvPr id="9" name="texte-163"/>
          <p:cNvSpPr txBox="1"/>
          <p:nvPr/>
        </p:nvSpPr>
        <p:spPr>
          <a:xfrm>
            <a:off x="7543800" y="48463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Simulateur de pluie sur les 13 communes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Comparaison sans et avec Kanivo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Lighthouse desktop : 100 / 100 / 100 / 100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10 · CE QUE MONTRE LE SIMULATEUR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Lors d'un épisode extrême, l'alerte change l'ordre de grandeur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Modèle illustratif et non calibré du prototype : 210 mm en 24 h, curage 15 % → 80 %, couverture d'alerte 20 % → 75 %. À calibrer pendant le pilote.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te-164"/>
          <p:cNvSpPr/>
          <p:nvPr/>
        </p:nvSpPr>
        <p:spPr>
          <a:xfrm>
            <a:off x="7863840" y="1783080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7" name="texte-165"/>
          <p:cNvSpPr txBox="1"/>
          <p:nvPr/>
        </p:nvSpPr>
        <p:spPr>
          <a:xfrm>
            <a:off x="8138160" y="19476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→ 2</a:t>
            </a:r>
            <a:endParaRPr lang="en-US" sz="3000" dirty="0"/>
          </a:p>
        </p:txBody>
      </p:sp>
      <p:sp>
        <p:nvSpPr>
          <p:cNvPr id="8" name="texte-166"/>
          <p:cNvSpPr txBox="1"/>
          <p:nvPr/>
        </p:nvSpPr>
        <p:spPr>
          <a:xfrm>
            <a:off x="9875520" y="19476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communes en alerte rouge</a:t>
            </a:r>
            <a:endParaRPr lang="en-US" sz="1400" dirty="0"/>
          </a:p>
        </p:txBody>
      </p:sp>
      <p:sp>
        <p:nvSpPr>
          <p:cNvPr id="9" name="carte-167"/>
          <p:cNvSpPr/>
          <p:nvPr/>
        </p:nvSpPr>
        <p:spPr>
          <a:xfrm>
            <a:off x="7863840" y="3127248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0" name="texte-168"/>
          <p:cNvSpPr txBox="1"/>
          <p:nvPr/>
        </p:nvSpPr>
        <p:spPr>
          <a:xfrm>
            <a:off x="813816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 2,6</a:t>
            </a:r>
            <a:endParaRPr lang="en-US" sz="3000" dirty="0"/>
          </a:p>
        </p:txBody>
      </p:sp>
      <p:sp>
        <p:nvSpPr>
          <p:cNvPr id="11" name="texte-169"/>
          <p:cNvSpPr txBox="1"/>
          <p:nvPr/>
        </p:nvSpPr>
        <p:spPr>
          <a:xfrm>
            <a:off x="9875520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personnes mises à l'abri à temps</a:t>
            </a:r>
            <a:endParaRPr lang="en-US" sz="1400" dirty="0"/>
          </a:p>
        </p:txBody>
      </p:sp>
      <p:sp>
        <p:nvSpPr>
          <p:cNvPr id="12" name="carte-170"/>
          <p:cNvSpPr/>
          <p:nvPr/>
        </p:nvSpPr>
        <p:spPr>
          <a:xfrm>
            <a:off x="7863840" y="4471416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3" name="texte-171"/>
          <p:cNvSpPr txBox="1"/>
          <p:nvPr/>
        </p:nvSpPr>
        <p:spPr>
          <a:xfrm>
            <a:off x="8138160" y="4636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− 32 %</a:t>
            </a:r>
            <a:endParaRPr lang="en-US" sz="3000" dirty="0"/>
          </a:p>
        </p:txBody>
      </p:sp>
      <p:sp>
        <p:nvSpPr>
          <p:cNvPr id="14" name="texte-172"/>
          <p:cNvSpPr txBox="1"/>
          <p:nvPr/>
        </p:nvSpPr>
        <p:spPr>
          <a:xfrm>
            <a:off x="9875520" y="463600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d'habitants exposés grâce au curage préventif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11 · MODÈLE ÉCONOMIQUE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Financé par ceux qui supportent déjà le coût des inondations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Hypothèses de l'équipe Kanivo, à valider pendant le pilote. Banque mondiale P168308 : 315 M$ (IDA).</a:t>
            </a:r>
            <a:endParaRPr lang="en-US" sz="1000" dirty="0"/>
          </a:p>
        </p:txBody>
      </p:sp>
      <p:sp>
        <p:nvSpPr>
          <p:cNvPr id="5" name="carte-173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cercle-icone-17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7" name="icone-17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98218"/>
            <a:ext cx="358445" cy="358445"/>
          </a:xfrm>
          <a:prstGeom prst="rect">
            <a:avLst/>
          </a:prstGeom>
        </p:spPr>
      </p:pic>
      <p:sp>
        <p:nvSpPr>
          <p:cNvPr id="8" name="texte-176"/>
          <p:cNvSpPr txBox="1"/>
          <p:nvPr/>
        </p:nvSpPr>
        <p:spPr>
          <a:xfrm>
            <a:off x="164592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public</a:t>
            </a:r>
            <a:endParaRPr lang="en-US" sz="2000" dirty="0"/>
          </a:p>
        </p:txBody>
      </p:sp>
      <p:sp>
        <p:nvSpPr>
          <p:cNvPr id="9" name="texte-177"/>
          <p:cNvSpPr txBox="1"/>
          <p:nvPr/>
        </p:nvSpPr>
        <p:spPr>
          <a:xfrm>
            <a:off x="1645920" y="24963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District, ANAGED, 13 communes : carte de risque, ordres de mission, indicateurs.</a:t>
            </a:r>
            <a:endParaRPr lang="en-US" sz="1400" dirty="0"/>
          </a:p>
        </p:txBody>
      </p:sp>
      <p:sp>
        <p:nvSpPr>
          <p:cNvPr id="10" name="texte-178"/>
          <p:cNvSpPr txBox="1"/>
          <p:nvPr/>
        </p:nvSpPr>
        <p:spPr>
          <a:xfrm>
            <a:off x="164592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 à 6 M FCFA par commune et par an</a:t>
            </a:r>
            <a:endParaRPr lang="en-US" sz="1300" dirty="0"/>
          </a:p>
        </p:txBody>
      </p:sp>
      <p:sp>
        <p:nvSpPr>
          <p:cNvPr id="11" name="carte-179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2" name="cercle-icone-180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3" name="icone-1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198218"/>
            <a:ext cx="358445" cy="358445"/>
          </a:xfrm>
          <a:prstGeom prst="rect">
            <a:avLst/>
          </a:prstGeom>
        </p:spPr>
      </p:pic>
      <p:sp>
        <p:nvSpPr>
          <p:cNvPr id="14" name="texte-182"/>
          <p:cNvSpPr txBox="1"/>
          <p:nvPr/>
        </p:nvSpPr>
        <p:spPr>
          <a:xfrm>
            <a:off x="726948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Bailleurs</a:t>
            </a:r>
            <a:endParaRPr lang="en-US" sz="2000" dirty="0"/>
          </a:p>
        </p:txBody>
      </p:sp>
      <p:sp>
        <p:nvSpPr>
          <p:cNvPr id="15" name="texte-183"/>
          <p:cNvSpPr txBox="1"/>
          <p:nvPr/>
        </p:nvSpPr>
        <p:spPr>
          <a:xfrm>
            <a:off x="7269480" y="24963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Une ligne « entretien et résilience » dans les projets de drainage (BM, BAD, AFD).</a:t>
            </a:r>
            <a:endParaRPr lang="en-US" sz="1400" dirty="0"/>
          </a:p>
        </p:txBody>
      </p:sp>
      <p:sp>
        <p:nvSpPr>
          <p:cNvPr id="16" name="texte-184"/>
          <p:cNvSpPr txBox="1"/>
          <p:nvPr/>
        </p:nvSpPr>
        <p:spPr>
          <a:xfrm>
            <a:off x="72694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 à 2 % des enveloppes</a:t>
            </a:r>
            <a:endParaRPr lang="en-US" sz="1300" dirty="0"/>
          </a:p>
        </p:txBody>
      </p:sp>
      <p:sp>
        <p:nvSpPr>
          <p:cNvPr id="17" name="carte-185"/>
          <p:cNvSpPr/>
          <p:nvPr/>
        </p:nvSpPr>
        <p:spPr>
          <a:xfrm>
            <a:off x="548640" y="38404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8" name="cercle-icone-186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9" name="icone-18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255618"/>
            <a:ext cx="358445" cy="358445"/>
          </a:xfrm>
          <a:prstGeom prst="rect">
            <a:avLst/>
          </a:prstGeom>
        </p:spPr>
      </p:pic>
      <p:sp>
        <p:nvSpPr>
          <p:cNvPr id="20" name="texte-188"/>
          <p:cNvSpPr txBox="1"/>
          <p:nvPr/>
        </p:nvSpPr>
        <p:spPr>
          <a:xfrm>
            <a:off x="164592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</a:t>
            </a:r>
            <a:endParaRPr lang="en-US" sz="2000" dirty="0"/>
          </a:p>
        </p:txBody>
      </p:sp>
      <p:sp>
        <p:nvSpPr>
          <p:cNvPr id="21" name="texte-189"/>
          <p:cNvSpPr txBox="1"/>
          <p:nvPr/>
        </p:nvSpPr>
        <p:spPr>
          <a:xfrm>
            <a:off x="1645920" y="4553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API de risque hyperlocal pour la micro-assurance et l'assurance paramétrique.</a:t>
            </a:r>
            <a:endParaRPr lang="en-US" sz="1400" dirty="0"/>
          </a:p>
        </p:txBody>
      </p:sp>
      <p:sp>
        <p:nvSpPr>
          <p:cNvPr id="22" name="texte-190"/>
          <p:cNvSpPr txBox="1"/>
          <p:nvPr/>
        </p:nvSpPr>
        <p:spPr>
          <a:xfrm>
            <a:off x="164592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Accès API au volume</a:t>
            </a:r>
            <a:endParaRPr lang="en-US" sz="1300" dirty="0"/>
          </a:p>
        </p:txBody>
      </p:sp>
      <p:sp>
        <p:nvSpPr>
          <p:cNvPr id="23" name="carte-191"/>
          <p:cNvSpPr/>
          <p:nvPr/>
        </p:nvSpPr>
        <p:spPr>
          <a:xfrm>
            <a:off x="6172200" y="38404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4" name="cercle-icone-192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5" name="icone-1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4255618"/>
            <a:ext cx="358445" cy="358445"/>
          </a:xfrm>
          <a:prstGeom prst="rect">
            <a:avLst/>
          </a:prstGeom>
        </p:spPr>
      </p:pic>
      <p:sp>
        <p:nvSpPr>
          <p:cNvPr id="26" name="texte-194"/>
          <p:cNvSpPr txBox="1"/>
          <p:nvPr/>
        </p:nvSpPr>
        <p:spPr>
          <a:xfrm>
            <a:off x="726948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Opérateurs télécoms</a:t>
            </a:r>
            <a:endParaRPr lang="en-US" sz="2000" dirty="0"/>
          </a:p>
        </p:txBody>
      </p:sp>
      <p:sp>
        <p:nvSpPr>
          <p:cNvPr id="27" name="texte-195"/>
          <p:cNvSpPr txBox="1"/>
          <p:nvPr/>
        </p:nvSpPr>
        <p:spPr>
          <a:xfrm>
            <a:off x="7269480" y="4553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Diffusion des alertes d'intérêt public en SMS et cell broadcast (RSE).</a:t>
            </a:r>
            <a:endParaRPr lang="en-US" sz="1400" dirty="0"/>
          </a:p>
        </p:txBody>
      </p:sp>
      <p:sp>
        <p:nvSpPr>
          <p:cNvPr id="28" name="texte-196"/>
          <p:cNvSpPr txBox="1"/>
          <p:nvPr/>
        </p:nvSpPr>
        <p:spPr>
          <a:xfrm>
            <a:off x="726948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Canal à prix coûtant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12 · FEUILLE DE ROUTE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Opérationnel avant la saison des pluies 2027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Communes pilotes proposées : Attécoubé (glissements de Mossikro) et Abobo (1,34 M d'habitants).</a:t>
            </a:r>
            <a:endParaRPr lang="en-US" sz="1000" dirty="0"/>
          </a:p>
        </p:txBody>
      </p:sp>
      <p:sp>
        <p:nvSpPr>
          <p:cNvPr id="5" name="ligne-temps"/>
          <p:cNvSpPr/>
          <p:nvPr/>
        </p:nvSpPr>
        <p:spPr>
          <a:xfrm>
            <a:off x="731520" y="2103120"/>
            <a:ext cx="10698480" cy="0"/>
          </a:xfrm>
          <a:prstGeom prst="line">
            <a:avLst/>
          </a:prstGeom>
          <a:noFill/>
          <a:ln w="19050">
            <a:solidFill>
              <a:srgbClr val="3AD6C8"/>
            </a:solidFill>
            <a:prstDash val="solid"/>
          </a:ln>
        </p:spPr>
      </p:sp>
      <p:sp>
        <p:nvSpPr>
          <p:cNvPr id="6" name="jalon-197"/>
          <p:cNvSpPr/>
          <p:nvPr/>
        </p:nvSpPr>
        <p:spPr>
          <a:xfrm>
            <a:off x="640080" y="1984248"/>
            <a:ext cx="237744" cy="237744"/>
          </a:xfrm>
          <a:prstGeom prst="ellipse">
            <a:avLst/>
          </a:prstGeom>
          <a:solidFill>
            <a:srgbClr val="04111A"/>
          </a:solidFill>
          <a:ln w="19050">
            <a:solidFill>
              <a:srgbClr val="3AD6C8"/>
            </a:solidFill>
            <a:prstDash val="solid"/>
          </a:ln>
        </p:spPr>
      </p:sp>
      <p:sp>
        <p:nvSpPr>
          <p:cNvPr id="7" name="texte-198"/>
          <p:cNvSpPr txBox="1"/>
          <p:nvPr/>
        </p:nvSpPr>
        <p:spPr>
          <a:xfrm>
            <a:off x="54864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NOV. 26 – JANV. 27</a:t>
            </a:r>
            <a:endParaRPr lang="en-US" sz="1100" dirty="0"/>
          </a:p>
        </p:txBody>
      </p:sp>
      <p:sp>
        <p:nvSpPr>
          <p:cNvPr id="8" name="carte-199"/>
          <p:cNvSpPr/>
          <p:nvPr/>
        </p:nvSpPr>
        <p:spPr>
          <a:xfrm>
            <a:off x="548640" y="278892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9" name="texte-200"/>
          <p:cNvSpPr txBox="1"/>
          <p:nvPr/>
        </p:nvSpPr>
        <p:spPr>
          <a:xfrm>
            <a:off x="749808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</a:t>
            </a:r>
            <a:endParaRPr lang="en-US" sz="1800" dirty="0"/>
          </a:p>
        </p:txBody>
      </p:sp>
      <p:sp>
        <p:nvSpPr>
          <p:cNvPr id="10" name="texte-201"/>
          <p:cNvSpPr txBox="1"/>
          <p:nvPr/>
        </p:nvSpPr>
        <p:spPr>
          <a:xfrm>
            <a:off x="749808" y="36576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Convention ANAGED, 2 communes pilotes, données SODEXAM</a:t>
            </a:r>
            <a:endParaRPr lang="en-US" sz="1400" dirty="0"/>
          </a:p>
        </p:txBody>
      </p:sp>
      <p:sp>
        <p:nvSpPr>
          <p:cNvPr id="11" name="texte-202"/>
          <p:cNvSpPr txBox="1"/>
          <p:nvPr/>
        </p:nvSpPr>
        <p:spPr>
          <a:xfrm>
            <a:off x="749808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Protocole signé</a:t>
            </a:r>
            <a:endParaRPr lang="en-US" sz="1300" dirty="0"/>
          </a:p>
        </p:txBody>
      </p:sp>
      <p:sp>
        <p:nvSpPr>
          <p:cNvPr id="12" name="jalon-203"/>
          <p:cNvSpPr/>
          <p:nvPr/>
        </p:nvSpPr>
        <p:spPr>
          <a:xfrm>
            <a:off x="2880360" y="1984248"/>
            <a:ext cx="237744" cy="237744"/>
          </a:xfrm>
          <a:prstGeom prst="ellipse">
            <a:avLst/>
          </a:prstGeom>
          <a:solidFill>
            <a:srgbClr val="04111A"/>
          </a:solidFill>
          <a:ln w="19050">
            <a:solidFill>
              <a:srgbClr val="3AD6C8"/>
            </a:solidFill>
            <a:prstDash val="solid"/>
          </a:ln>
        </p:spPr>
      </p:sp>
      <p:sp>
        <p:nvSpPr>
          <p:cNvPr id="13" name="texte-204"/>
          <p:cNvSpPr txBox="1"/>
          <p:nvPr/>
        </p:nvSpPr>
        <p:spPr>
          <a:xfrm>
            <a:off x="278892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FÉVR. – AVR. 27</a:t>
            </a:r>
            <a:endParaRPr lang="en-US" sz="1100" dirty="0"/>
          </a:p>
        </p:txBody>
      </p:sp>
      <p:sp>
        <p:nvSpPr>
          <p:cNvPr id="14" name="carte-205"/>
          <p:cNvSpPr/>
          <p:nvPr/>
        </p:nvSpPr>
        <p:spPr>
          <a:xfrm>
            <a:off x="2788920" y="278892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5" name="texte-206"/>
          <p:cNvSpPr txBox="1"/>
          <p:nvPr/>
        </p:nvSpPr>
        <p:spPr>
          <a:xfrm>
            <a:off x="2990088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 Signal</a:t>
            </a:r>
            <a:endParaRPr lang="en-US" sz="1800" dirty="0"/>
          </a:p>
        </p:txBody>
      </p:sp>
      <p:sp>
        <p:nvSpPr>
          <p:cNvPr id="16" name="texte-207"/>
          <p:cNvSpPr txBox="1"/>
          <p:nvPr/>
        </p:nvSpPr>
        <p:spPr>
          <a:xfrm>
            <a:off x="2990088" y="36576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Bot WhatsApp et USSD, 100 Brigades vertes</a:t>
            </a:r>
            <a:endParaRPr lang="en-US" sz="1400" dirty="0"/>
          </a:p>
        </p:txBody>
      </p:sp>
      <p:sp>
        <p:nvSpPr>
          <p:cNvPr id="17" name="texte-208"/>
          <p:cNvSpPr txBox="1"/>
          <p:nvPr/>
        </p:nvSpPr>
        <p:spPr>
          <a:xfrm>
            <a:off x="2990088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≥ 5 000 signalements</a:t>
            </a:r>
            <a:endParaRPr lang="en-US" sz="1300" dirty="0"/>
          </a:p>
        </p:txBody>
      </p:sp>
      <p:sp>
        <p:nvSpPr>
          <p:cNvPr id="18" name="jalon-209"/>
          <p:cNvSpPr/>
          <p:nvPr/>
        </p:nvSpPr>
        <p:spPr>
          <a:xfrm>
            <a:off x="5120640" y="1984248"/>
            <a:ext cx="237744" cy="237744"/>
          </a:xfrm>
          <a:prstGeom prst="ellipse">
            <a:avLst/>
          </a:prstGeom>
          <a:solidFill>
            <a:srgbClr val="04111A"/>
          </a:solidFill>
          <a:ln w="19050">
            <a:solidFill>
              <a:srgbClr val="3AD6C8"/>
            </a:solidFill>
            <a:prstDash val="solid"/>
          </a:ln>
        </p:spPr>
      </p:sp>
      <p:sp>
        <p:nvSpPr>
          <p:cNvPr id="19" name="texte-210"/>
          <p:cNvSpPr txBox="1"/>
          <p:nvPr/>
        </p:nvSpPr>
        <p:spPr>
          <a:xfrm>
            <a:off x="50292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AVR. – MAI 27</a:t>
            </a:r>
            <a:endParaRPr lang="en-US" sz="1100" dirty="0"/>
          </a:p>
        </p:txBody>
      </p:sp>
      <p:sp>
        <p:nvSpPr>
          <p:cNvPr id="20" name="carte-211"/>
          <p:cNvSpPr/>
          <p:nvPr/>
        </p:nvSpPr>
        <p:spPr>
          <a:xfrm>
            <a:off x="5029200" y="278892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1" name="texte-212"/>
          <p:cNvSpPr txBox="1"/>
          <p:nvPr/>
        </p:nvSpPr>
        <p:spPr>
          <a:xfrm>
            <a:off x="5230368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Avant-saison</a:t>
            </a:r>
            <a:endParaRPr lang="en-US" sz="1800" dirty="0"/>
          </a:p>
        </p:txBody>
      </p:sp>
      <p:sp>
        <p:nvSpPr>
          <p:cNvPr id="22" name="texte-213"/>
          <p:cNvSpPr txBox="1"/>
          <p:nvPr/>
        </p:nvSpPr>
        <p:spPr>
          <a:xfrm>
            <a:off x="5230368" y="36576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Carte de risque v1, curage priorisé</a:t>
            </a:r>
            <a:endParaRPr lang="en-US" sz="1400" dirty="0"/>
          </a:p>
        </p:txBody>
      </p:sp>
      <p:sp>
        <p:nvSpPr>
          <p:cNvPr id="23" name="texte-214"/>
          <p:cNvSpPr txBox="1"/>
          <p:nvPr/>
        </p:nvSpPr>
        <p:spPr>
          <a:xfrm>
            <a:off x="5230368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≥ 80 % des points critiques curés</a:t>
            </a:r>
            <a:endParaRPr lang="en-US" sz="1300" dirty="0"/>
          </a:p>
        </p:txBody>
      </p:sp>
      <p:sp>
        <p:nvSpPr>
          <p:cNvPr id="24" name="jalon-215"/>
          <p:cNvSpPr/>
          <p:nvPr/>
        </p:nvSpPr>
        <p:spPr>
          <a:xfrm>
            <a:off x="7360920" y="1984248"/>
            <a:ext cx="237744" cy="237744"/>
          </a:xfrm>
          <a:prstGeom prst="ellipse">
            <a:avLst/>
          </a:prstGeom>
          <a:solidFill>
            <a:srgbClr val="FF8A1F"/>
          </a:solidFill>
          <a:ln w="19050">
            <a:solidFill>
              <a:srgbClr val="FF8A1F"/>
            </a:solidFill>
            <a:prstDash val="solid"/>
          </a:ln>
        </p:spPr>
      </p:sp>
      <p:sp>
        <p:nvSpPr>
          <p:cNvPr id="25" name="texte-216"/>
          <p:cNvSpPr txBox="1"/>
          <p:nvPr/>
        </p:nvSpPr>
        <p:spPr>
          <a:xfrm>
            <a:off x="726948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MAI – JUIL. 27</a:t>
            </a:r>
            <a:endParaRPr lang="en-US" sz="1100" dirty="0"/>
          </a:p>
        </p:txBody>
      </p:sp>
      <p:sp>
        <p:nvSpPr>
          <p:cNvPr id="26" name="carte-217"/>
          <p:cNvSpPr/>
          <p:nvPr/>
        </p:nvSpPr>
        <p:spPr>
          <a:xfrm>
            <a:off x="7269480" y="278892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7" name="texte-218"/>
          <p:cNvSpPr txBox="1"/>
          <p:nvPr/>
        </p:nvSpPr>
        <p:spPr>
          <a:xfrm>
            <a:off x="7470648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Saison</a:t>
            </a:r>
            <a:endParaRPr lang="en-US" sz="1800" dirty="0"/>
          </a:p>
        </p:txBody>
      </p:sp>
      <p:sp>
        <p:nvSpPr>
          <p:cNvPr id="28" name="texte-219"/>
          <p:cNvSpPr txBox="1"/>
          <p:nvPr/>
        </p:nvSpPr>
        <p:spPr>
          <a:xfrm>
            <a:off x="7470648" y="36576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Alertes multilingues géociblées</a:t>
            </a:r>
            <a:endParaRPr lang="en-US" sz="1400" dirty="0"/>
          </a:p>
        </p:txBody>
      </p:sp>
      <p:sp>
        <p:nvSpPr>
          <p:cNvPr id="29" name="texte-220"/>
          <p:cNvSpPr txBox="1"/>
          <p:nvPr/>
        </p:nvSpPr>
        <p:spPr>
          <a:xfrm>
            <a:off x="7470648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Réception &lt; 15 min, ≥ 70 % joints</a:t>
            </a:r>
            <a:endParaRPr lang="en-US" sz="1300" dirty="0"/>
          </a:p>
        </p:txBody>
      </p:sp>
      <p:sp>
        <p:nvSpPr>
          <p:cNvPr id="30" name="jalon-221"/>
          <p:cNvSpPr/>
          <p:nvPr/>
        </p:nvSpPr>
        <p:spPr>
          <a:xfrm>
            <a:off x="9601200" y="1984248"/>
            <a:ext cx="237744" cy="237744"/>
          </a:xfrm>
          <a:prstGeom prst="ellipse">
            <a:avLst/>
          </a:prstGeom>
          <a:solidFill>
            <a:srgbClr val="04111A"/>
          </a:solidFill>
          <a:ln w="19050">
            <a:solidFill>
              <a:srgbClr val="3AD6C8"/>
            </a:solidFill>
            <a:prstDash val="solid"/>
          </a:ln>
        </p:spPr>
      </p:sp>
      <p:sp>
        <p:nvSpPr>
          <p:cNvPr id="31" name="texte-222"/>
          <p:cNvSpPr txBox="1"/>
          <p:nvPr/>
        </p:nvSpPr>
        <p:spPr>
          <a:xfrm>
            <a:off x="950976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2028</a:t>
            </a:r>
            <a:endParaRPr lang="en-US" sz="1100" dirty="0"/>
          </a:p>
        </p:txBody>
      </p:sp>
      <p:sp>
        <p:nvSpPr>
          <p:cNvPr id="32" name="carte-223"/>
          <p:cNvSpPr/>
          <p:nvPr/>
        </p:nvSpPr>
        <p:spPr>
          <a:xfrm>
            <a:off x="9509760" y="2788920"/>
            <a:ext cx="2103120" cy="3017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33" name="texte-224"/>
          <p:cNvSpPr txBox="1"/>
          <p:nvPr/>
        </p:nvSpPr>
        <p:spPr>
          <a:xfrm>
            <a:off x="9710928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 à l'échelle</a:t>
            </a:r>
            <a:endParaRPr lang="en-US" sz="1800" dirty="0"/>
          </a:p>
        </p:txBody>
      </p:sp>
      <p:sp>
        <p:nvSpPr>
          <p:cNvPr id="34" name="texte-225"/>
          <p:cNvSpPr txBox="1"/>
          <p:nvPr/>
        </p:nvSpPr>
        <p:spPr>
          <a:xfrm>
            <a:off x="9710928" y="36576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 communes, API assureurs, villes secondaires</a:t>
            </a:r>
            <a:endParaRPr lang="en-US" sz="1400" dirty="0"/>
          </a:p>
        </p:txBody>
      </p:sp>
      <p:sp>
        <p:nvSpPr>
          <p:cNvPr id="35" name="texte-226"/>
          <p:cNvSpPr txBox="1"/>
          <p:nvPr/>
        </p:nvSpPr>
        <p:spPr>
          <a:xfrm>
            <a:off x="9710928" y="4892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Baisse mesurée des victimes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13 · IMPACT VISÉ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résultats mesurables dès la première saison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Objectifs à mesurer pendant le pilote. Référence : en 2026, l'évacuation a évité des victimes là où les consignes ont été suivies (Gouvernement).</a:t>
            </a:r>
            <a:endParaRPr lang="en-US" sz="1000" dirty="0"/>
          </a:p>
        </p:txBody>
      </p:sp>
      <p:sp>
        <p:nvSpPr>
          <p:cNvPr id="5" name="carte-227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cercle-icone-228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7" name="icone-2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98218"/>
            <a:ext cx="358445" cy="358445"/>
          </a:xfrm>
          <a:prstGeom prst="rect">
            <a:avLst/>
          </a:prstGeom>
        </p:spPr>
      </p:pic>
      <p:sp>
        <p:nvSpPr>
          <p:cNvPr id="8" name="texte-230"/>
          <p:cNvSpPr txBox="1"/>
          <p:nvPr/>
        </p:nvSpPr>
        <p:spPr>
          <a:xfrm>
            <a:off x="164592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Vies</a:t>
            </a:r>
            <a:endParaRPr lang="en-US" sz="2000" dirty="0"/>
          </a:p>
        </p:txBody>
      </p:sp>
      <p:sp>
        <p:nvSpPr>
          <p:cNvPr id="9" name="texte-231"/>
          <p:cNvSpPr txBox="1"/>
          <p:nvPr/>
        </p:nvSpPr>
        <p:spPr>
          <a:xfrm>
            <a:off x="1645920" y="24963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Moins de victimes dans les communes pilotes, grâce à l'évacuation anticipée et au curage préventif.</a:t>
            </a:r>
            <a:endParaRPr lang="en-US" sz="1400" dirty="0"/>
          </a:p>
        </p:txBody>
      </p:sp>
      <p:sp>
        <p:nvSpPr>
          <p:cNvPr id="10" name="texte-232"/>
          <p:cNvSpPr txBox="1"/>
          <p:nvPr/>
        </p:nvSpPr>
        <p:spPr>
          <a:xfrm>
            <a:off x="164592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Indicateur 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Victimes et évacuations par épisode</a:t>
            </a:r>
            <a:endParaRPr lang="en-US" sz="1300" dirty="0"/>
          </a:p>
        </p:txBody>
      </p:sp>
      <p:sp>
        <p:nvSpPr>
          <p:cNvPr id="11" name="carte-233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2" name="cercle-icone-23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3" name="icone-23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198218"/>
            <a:ext cx="358445" cy="358445"/>
          </a:xfrm>
          <a:prstGeom prst="rect">
            <a:avLst/>
          </a:prstGeom>
        </p:spPr>
      </p:pic>
      <p:sp>
        <p:nvSpPr>
          <p:cNvPr id="14" name="texte-236"/>
          <p:cNvSpPr txBox="1"/>
          <p:nvPr/>
        </p:nvSpPr>
        <p:spPr>
          <a:xfrm>
            <a:off x="726948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Ouvrages</a:t>
            </a:r>
            <a:endParaRPr lang="en-US" sz="2000" dirty="0"/>
          </a:p>
        </p:txBody>
      </p:sp>
      <p:sp>
        <p:nvSpPr>
          <p:cNvPr id="15" name="texte-237"/>
          <p:cNvSpPr txBox="1"/>
          <p:nvPr/>
        </p:nvSpPr>
        <p:spPr>
          <a:xfrm>
            <a:off x="7269480" y="24963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Préserver la capacité des ouvrages financés, qui représentent des centaines de millions de dollars.</a:t>
            </a:r>
            <a:endParaRPr lang="en-US" sz="1400" dirty="0"/>
          </a:p>
        </p:txBody>
      </p:sp>
      <p:sp>
        <p:nvSpPr>
          <p:cNvPr id="16" name="texte-238"/>
          <p:cNvSpPr txBox="1"/>
          <p:nvPr/>
        </p:nvSpPr>
        <p:spPr>
          <a:xfrm>
            <a:off x="726948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Indicateur 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Taux de points critiques curés avant le 15 mai</a:t>
            </a:r>
            <a:endParaRPr lang="en-US" sz="1300" dirty="0"/>
          </a:p>
        </p:txBody>
      </p:sp>
      <p:sp>
        <p:nvSpPr>
          <p:cNvPr id="17" name="carte-239"/>
          <p:cNvSpPr/>
          <p:nvPr/>
        </p:nvSpPr>
        <p:spPr>
          <a:xfrm>
            <a:off x="548640" y="38404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8" name="cercle-icone-240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19" name="icone-2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255618"/>
            <a:ext cx="358445" cy="358445"/>
          </a:xfrm>
          <a:prstGeom prst="rect">
            <a:avLst/>
          </a:prstGeom>
        </p:spPr>
      </p:pic>
      <p:sp>
        <p:nvSpPr>
          <p:cNvPr id="20" name="texte-242"/>
          <p:cNvSpPr txBox="1"/>
          <p:nvPr/>
        </p:nvSpPr>
        <p:spPr>
          <a:xfrm>
            <a:off x="164592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Emplois</a:t>
            </a:r>
            <a:endParaRPr lang="en-US" sz="2000" dirty="0"/>
          </a:p>
        </p:txBody>
      </p:sp>
      <p:sp>
        <p:nvSpPr>
          <p:cNvPr id="21" name="texte-243"/>
          <p:cNvSpPr txBox="1"/>
          <p:nvPr/>
        </p:nvSpPr>
        <p:spPr>
          <a:xfrm>
            <a:off x="1645920" y="4553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Environ 1 300 Brigades vertes à l'échelle du district, soit 100 par commune.</a:t>
            </a:r>
            <a:endParaRPr lang="en-US" sz="1400" dirty="0"/>
          </a:p>
        </p:txBody>
      </p:sp>
      <p:sp>
        <p:nvSpPr>
          <p:cNvPr id="22" name="texte-244"/>
          <p:cNvSpPr txBox="1"/>
          <p:nvPr/>
        </p:nvSpPr>
        <p:spPr>
          <a:xfrm>
            <a:off x="164592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Indicateur 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Jeunes formés et rémunérés</a:t>
            </a:r>
            <a:endParaRPr lang="en-US" sz="1300" dirty="0"/>
          </a:p>
        </p:txBody>
      </p:sp>
      <p:sp>
        <p:nvSpPr>
          <p:cNvPr id="23" name="carte-245"/>
          <p:cNvSpPr/>
          <p:nvPr/>
        </p:nvSpPr>
        <p:spPr>
          <a:xfrm>
            <a:off x="6172200" y="38404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24" name="cercle-icone-246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3AD6C8">
              <a:alpha val="15000"/>
            </a:srgbClr>
          </a:solidFill>
          <a:ln w="9525">
            <a:solidFill>
              <a:srgbClr val="3AD6C8">
                <a:alpha val="60000"/>
              </a:srgbClr>
            </a:solidFill>
            <a:prstDash val="solid"/>
          </a:ln>
        </p:spPr>
      </p:sp>
      <p:pic>
        <p:nvPicPr>
          <p:cNvPr id="25" name="icone-24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4255618"/>
            <a:ext cx="358445" cy="358445"/>
          </a:xfrm>
          <a:prstGeom prst="rect">
            <a:avLst/>
          </a:prstGeom>
        </p:spPr>
      </p:pic>
      <p:sp>
        <p:nvSpPr>
          <p:cNvPr id="26" name="texte-248"/>
          <p:cNvSpPr txBox="1"/>
          <p:nvPr/>
        </p:nvSpPr>
        <p:spPr>
          <a:xfrm>
            <a:off x="726948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</a:t>
            </a:r>
            <a:endParaRPr lang="en-US" sz="2000" dirty="0"/>
          </a:p>
        </p:txBody>
      </p:sp>
      <p:sp>
        <p:nvSpPr>
          <p:cNvPr id="27" name="texte-249"/>
          <p:cNvSpPr txBox="1"/>
          <p:nvPr/>
        </p:nvSpPr>
        <p:spPr>
          <a:xfrm>
            <a:off x="7269480" y="4553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premiers indicateurs publics d'entretien du drainage, commune par commune.</a:t>
            </a:r>
            <a:endParaRPr lang="en-US" sz="1400" dirty="0"/>
          </a:p>
        </p:txBody>
      </p:sp>
      <p:sp>
        <p:nvSpPr>
          <p:cNvPr id="28" name="texte-250"/>
          <p:cNvSpPr txBox="1"/>
          <p:nvPr/>
        </p:nvSpPr>
        <p:spPr>
          <a:xfrm>
            <a:off x="726948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Indicateur 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Délai signalement → curage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14 · RISQUES ET PARADES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principaux risques sont humains, et ils sont maîtrisables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Cadre légal : loi n° 2013-450 relative à la protection des données à caractère personnel (ARTCI).</a:t>
            </a:r>
            <a:endParaRPr lang="en-US" sz="1000" dirty="0"/>
          </a:p>
        </p:txBody>
      </p:sp>
      <p:graphicFrame>
        <p:nvGraphicFramePr>
          <p:cNvPr id="18" name="tableau-risq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6035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D6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D6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D6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adoption citoyenne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USSD, SMS et vocal sans smartphone ; chefs de quartier relais ; récompense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 au signalement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5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IA (doublons, EXIF, géofence), audits aléatoires, plafonds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Signalements sans suite, perte de confiance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5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Indicateurs publics, délais garantis, prestataires payés au résultat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aux données météo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 SODEXAM ; à défaut, données satellite ouvertes (GPM/IMERG)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personnelles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Minimisation, anonymisation des signaleurs, analyse d'impact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Lassitude face aux fausses alertes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C5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 calibrés, niveaux gradués, retour d'expérience après chaque épisode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45720" marB="45720" anchor="ctr">
                    <a:lnL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11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15 · ÉQUIPE ET PROCHAINES ÉTAPES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resserrée et trois décisions pour lancer le pilote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Équipe cible pour le pilote de 6 mois ; profils à recruter ou à mettre à disposition par les partenaires.</a:t>
            </a:r>
            <a:endParaRPr lang="en-US" sz="1000" dirty="0"/>
          </a:p>
        </p:txBody>
      </p:sp>
      <p:sp>
        <p:nvSpPr>
          <p:cNvPr id="5" name="carte-251"/>
          <p:cNvSpPr/>
          <p:nvPr/>
        </p:nvSpPr>
        <p:spPr>
          <a:xfrm>
            <a:off x="548640" y="1783080"/>
            <a:ext cx="475488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6" name="texte-252"/>
          <p:cNvSpPr txBox="1"/>
          <p:nvPr/>
        </p:nvSpPr>
        <p:spPr>
          <a:xfrm>
            <a:off x="82296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cible du pilote</a:t>
            </a:r>
            <a:endParaRPr lang="en-US" sz="2000" dirty="0"/>
          </a:p>
        </p:txBody>
      </p:sp>
      <p:sp>
        <p:nvSpPr>
          <p:cNvPr id="7" name="texte-253"/>
          <p:cNvSpPr txBox="1"/>
          <p:nvPr/>
        </p:nvSpPr>
        <p:spPr>
          <a:xfrm>
            <a:off x="822960" y="2514600"/>
            <a:ext cx="4251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Direction de projet et relations institutionnelles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Product manager et designer de service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2 ingénieurs (USSD, WhatsApp, web, données)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Data scientist (score de risque, vision)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Coordination terrain et 100 Brigades vertes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Référents ANAGED, ONPC et communes</a:t>
            </a:r>
            <a:endParaRPr lang="en-US" sz="1500" dirty="0"/>
          </a:p>
        </p:txBody>
      </p:sp>
      <p:sp>
        <p:nvSpPr>
          <p:cNvPr id="8" name="carte-254"/>
          <p:cNvSpPr/>
          <p:nvPr/>
        </p:nvSpPr>
        <p:spPr>
          <a:xfrm>
            <a:off x="5532120" y="1783080"/>
            <a:ext cx="60807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9" name="pastille-255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e-256"/>
          <p:cNvSpPr txBox="1"/>
          <p:nvPr/>
        </p:nvSpPr>
        <p:spPr>
          <a:xfrm>
            <a:off x="57607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 j</a:t>
            </a:r>
            <a:endParaRPr lang="en-US" sz="1300" dirty="0"/>
          </a:p>
        </p:txBody>
      </p:sp>
      <p:sp>
        <p:nvSpPr>
          <p:cNvPr id="11" name="texte-257"/>
          <p:cNvSpPr txBox="1"/>
          <p:nvPr/>
        </p:nvSpPr>
        <p:spPr>
          <a:xfrm>
            <a:off x="6537960" y="17830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Valider le cadrage avec l'ANAGED, l'ONPC et les mairies d'Attécoubé et d'Abobo.</a:t>
            </a:r>
            <a:endParaRPr lang="en-US" sz="1500" dirty="0"/>
          </a:p>
        </p:txBody>
      </p:sp>
      <p:sp>
        <p:nvSpPr>
          <p:cNvPr id="12" name="carte-258"/>
          <p:cNvSpPr/>
          <p:nvPr/>
        </p:nvSpPr>
        <p:spPr>
          <a:xfrm>
            <a:off x="5532120" y="2834640"/>
            <a:ext cx="60807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3" name="pastille-259"/>
          <p:cNvSpPr/>
          <p:nvPr/>
        </p:nvSpPr>
        <p:spPr>
          <a:xfrm>
            <a:off x="5760720" y="3017520"/>
            <a:ext cx="548640" cy="54864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e-260"/>
          <p:cNvSpPr txBox="1"/>
          <p:nvPr/>
        </p:nvSpPr>
        <p:spPr>
          <a:xfrm>
            <a:off x="57607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60 j</a:t>
            </a:r>
            <a:endParaRPr lang="en-US" sz="1300" dirty="0"/>
          </a:p>
        </p:txBody>
      </p:sp>
      <p:sp>
        <p:nvSpPr>
          <p:cNvPr id="15" name="texte-261"/>
          <p:cNvSpPr txBox="1"/>
          <p:nvPr/>
        </p:nvSpPr>
        <p:spPr>
          <a:xfrm>
            <a:off x="6537960" y="2834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Signer l'accès aux données SODEXAM et le canal SMS avec un opérateur.</a:t>
            </a:r>
            <a:endParaRPr lang="en-US" sz="1500" dirty="0"/>
          </a:p>
        </p:txBody>
      </p:sp>
      <p:sp>
        <p:nvSpPr>
          <p:cNvPr id="16" name="carte-262"/>
          <p:cNvSpPr/>
          <p:nvPr/>
        </p:nvSpPr>
        <p:spPr>
          <a:xfrm>
            <a:off x="5532120" y="3886200"/>
            <a:ext cx="608076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rgbClr val="1C3A48"/>
            </a:solidFill>
            <a:prstDash val="solid"/>
          </a:ln>
        </p:spPr>
      </p:sp>
      <p:sp>
        <p:nvSpPr>
          <p:cNvPr id="17" name="pastille-263"/>
          <p:cNvSpPr/>
          <p:nvPr/>
        </p:nvSpPr>
        <p:spPr>
          <a:xfrm>
            <a:off x="5760720" y="4069080"/>
            <a:ext cx="548640" cy="548640"/>
          </a:xfrm>
          <a:prstGeom prst="ellipse">
            <a:avLst/>
          </a:prstGeom>
          <a:solidFill>
            <a:srgbClr val="04111A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texte-264"/>
          <p:cNvSpPr txBox="1"/>
          <p:nvPr/>
        </p:nvSpPr>
        <p:spPr>
          <a:xfrm>
            <a:off x="57607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90 j</a:t>
            </a:r>
            <a:endParaRPr lang="en-US" sz="1300" dirty="0"/>
          </a:p>
        </p:txBody>
      </p:sp>
      <p:sp>
        <p:nvSpPr>
          <p:cNvPr id="19" name="texte-265"/>
          <p:cNvSpPr txBox="1"/>
          <p:nvPr/>
        </p:nvSpPr>
        <p:spPr>
          <a:xfrm>
            <a:off x="6537960" y="3886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Lancer le bot Signal et recruter les 100 premières Brigades vertes.</a:t>
            </a:r>
            <a:endParaRPr lang="en-US" sz="1500" dirty="0"/>
          </a:p>
        </p:txBody>
      </p:sp>
      <p:sp>
        <p:nvSpPr>
          <p:cNvPr id="20" name="carte-266"/>
          <p:cNvSpPr/>
          <p:nvPr/>
        </p:nvSpPr>
        <p:spPr>
          <a:xfrm>
            <a:off x="5532120" y="4983480"/>
            <a:ext cx="6080760" cy="822960"/>
          </a:xfrm>
          <a:prstGeom prst="roundRect">
            <a:avLst>
              <a:gd name="adj" fmla="val 13333"/>
            </a:avLst>
          </a:prstGeom>
          <a:solidFill>
            <a:srgbClr val="FF8A1F">
              <a:alpha val="12000"/>
            </a:srgbClr>
          </a:solidFill>
          <a:ln w="9525">
            <a:solidFill>
              <a:srgbClr val="FF8A1F"/>
            </a:solidFill>
            <a:prstDash val="solid"/>
          </a:ln>
        </p:spPr>
      </p:sp>
      <p:sp>
        <p:nvSpPr>
          <p:cNvPr id="21" name="texte-267"/>
          <p:cNvSpPr txBox="1"/>
          <p:nvPr/>
        </p:nvSpPr>
        <p:spPr>
          <a:xfrm>
            <a:off x="5806440" y="4983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Décisions demandées 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mandat de pilote, communes pilotes, budget de lancement.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ANNEXE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principales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Liste complète et commentée : livrable/rapport-analyse.md du dépôt github.com/pethuelelie-glitch/kanivo</a:t>
            </a:r>
            <a:endParaRPr lang="en-US" sz="1000" dirty="0"/>
          </a:p>
        </p:txBody>
      </p:sp>
      <p:sp>
        <p:nvSpPr>
          <p:cNvPr id="5" name="texte-268"/>
          <p:cNvSpPr txBox="1"/>
          <p:nvPr/>
        </p:nvSpPr>
        <p:spPr>
          <a:xfrm>
            <a:off x="548640" y="178308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Gouvernement via Fratmat/AllAfrica : 59 morts, pluies du 28-29 juin 2026 (1er juil. 2026)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Le360 Afrique et AllAfrica : bilan ONPC, 24 morts, pluies du 13 au 22 juin 2024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RTBF et Vatican News : 18 morts, nuit du 18 au 19 juin 2018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Banque mondiale : Urban Resilience and Solid Waste Management Project (P168308)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GFDRR : City Scan Abidjan et PDNA 2018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UNDRR : profil de risque et de résilience de la Côte d'Ivoire</a:t>
            </a:r>
            <a:endParaRPr lang="en-US" sz="1400" dirty="0"/>
          </a:p>
        </p:txBody>
      </p:sp>
      <p:sp>
        <p:nvSpPr>
          <p:cNvPr id="6" name="texte-269"/>
          <p:cNvSpPr txBox="1"/>
          <p:nvPr/>
        </p:nvSpPr>
        <p:spPr>
          <a:xfrm>
            <a:off x="6172200" y="178308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AllAfrica : 5 000 t de déchets par jour, Ministère de la Salubrité (mars 2026)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ONU-Habitat : profil urbain d'Abidjan (données ANASUR 2016)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INS, RGPH 2021 (via economie-ivoirienne.ci et citypopulation.de)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DG Trésor : FASEP vigilance météorologique à Abidjan (2022)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DataReportal 2026 via Digital Mag CI : usages du mobile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BAD : PAACA (2021) et bassin versant du Gourou ; AIP ; GWP (2023)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anivo Nuit">
      <a:dk1>
        <a:srgbClr val="04111A"/>
      </a:dk1>
      <a:lt1>
        <a:srgbClr val="FFFFFF"/>
      </a:lt1>
      <a:dk2>
        <a:srgbClr val="0B2230"/>
      </a:dk2>
      <a:lt2>
        <a:srgbClr val="E9F1F2"/>
      </a:lt2>
      <a:accent1>
        <a:srgbClr val="3AD6C8"/>
      </a:accent1>
      <a:accent2>
        <a:srgbClr val="FF8A1F"/>
      </a:accent2>
      <a:accent3>
        <a:srgbClr val="FFC54D"/>
      </a:accent3>
      <a:accent4>
        <a:srgbClr val="22C08A"/>
      </a:accent4>
      <a:accent5>
        <a:srgbClr val="FF5A52"/>
      </a:accent5>
      <a:accent6>
        <a:srgbClr val="93ABB2"/>
      </a:accent6>
      <a:hlink>
        <a:srgbClr val="3AD6C8"/>
      </a:hlink>
      <a:folHlink>
        <a:srgbClr val="93ABB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Kanivo — Inondations à Abidjan</dc:title>
  <dc:subject>Analyse et proposition de solution numérique</dc:subject>
  <dc:creator>ELIE EHOUSSOU</dc:creator>
  <cp:lastModifiedBy>ELIE EHOUSSOU</cp:lastModifiedBy>
  <cp:revision>1</cp:revision>
  <dcterms:created xsi:type="dcterms:W3CDTF">2026-10-22T17:17:59Z</dcterms:created>
  <dcterms:modified xsi:type="dcterms:W3CDTF">2026-10-22T17:17:59Z</dcterms:modified>
</cp:coreProperties>
</file>